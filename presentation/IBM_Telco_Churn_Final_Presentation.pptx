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8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Churn rate</c:v>
                </c:pt>
              </c:strCache>
            </c:strRef>
          </c:tx>
          <c:spPr>
            <a:solidFill>
              <a:srgbClr val="DA1E28"/>
            </a:solidFill>
            <a:effectLst/>
          </c:spPr>
          <c:invertIfNegative val="0"/>
          <c:dLbls>
            <c:numFmt formatCode="0.0&quot;%&quot;" sourceLinked="0"/>
            <c:spPr>
              <a:noFill/>
              <a:ln>
                <a:noFill/>
              </a:ln>
              <a:effectLst/>
            </c:spPr>
            <c:txPr>
              <a:bodyPr/>
              <a:lstStyle/>
              <a:p>
                <a:pPr>
                  <a:defRPr sz="1300" b="0" i="0" u="none" strike="noStrike">
                    <a:solidFill>
                      <a:srgbClr val="16161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Month-to-Month</c:v>
                </c:pt>
                <c:pt idx="1">
                  <c:v>One Year</c:v>
                </c:pt>
                <c:pt idx="2">
                  <c:v>Two Year</c:v>
                </c:pt>
              </c:strCache>
            </c:strRef>
          </c:cat>
          <c:val>
            <c:numRef>
              <c:f>Sheet1!$B$2:$B$4</c:f>
              <c:numCache>
                <c:formatCode>General</c:formatCode>
                <c:ptCount val="3"/>
                <c:pt idx="0">
                  <c:v>45.8</c:v>
                </c:pt>
                <c:pt idx="1">
                  <c:v>10.7</c:v>
                </c:pt>
                <c:pt idx="2">
                  <c:v>2.5</c:v>
                </c:pt>
              </c:numCache>
            </c:numRef>
          </c:val>
          <c:extLst>
            <c:ext xmlns:c16="http://schemas.microsoft.com/office/drawing/2014/chart" uri="{C3380CC4-5D6E-409C-BE32-E72D297353CC}">
              <c16:uniqueId val="{00000000-F83B-4FE3-B32F-FE7792506DE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252"/>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0"/>
        <c:axPos val="b"/>
        <c:majorGridlines>
          <c:spPr>
            <a:ln w="12700" cap="flat">
              <a:solidFill>
                <a:srgbClr val="ED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D8D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Churn rate</c:v>
                </c:pt>
              </c:strCache>
            </c:strRef>
          </c:tx>
          <c:spPr>
            <a:ln w="50800" cap="flat">
              <a:solidFill>
                <a:srgbClr val="DA1E28"/>
              </a:solidFill>
              <a:prstDash val="solid"/>
              <a:round/>
            </a:ln>
            <a:effectLst/>
          </c:spPr>
          <c:marker>
            <c:symbol val="circle"/>
            <c:size val="6"/>
            <c:spPr>
              <a:solidFill>
                <a:srgbClr val="DA1E28"/>
              </a:solidFill>
              <a:ln w="9525" cap="flat">
                <a:solidFill>
                  <a:srgbClr val="DA1E28"/>
                </a:solidFill>
                <a:prstDash val="solid"/>
                <a:round/>
              </a:ln>
              <a:effectLst/>
            </c:spPr>
          </c:marker>
          <c:dLbls>
            <c:numFmt formatCode="0.0&quot;%&quot;" sourceLinked="0"/>
            <c:spPr>
              <a:noFill/>
              <a:ln>
                <a:noFill/>
              </a:ln>
              <a:effectLst/>
            </c:spPr>
            <c:txPr>
              <a:bodyPr/>
              <a:lstStyle/>
              <a:p>
                <a:pPr>
                  <a:defRPr sz="1300" b="0" i="0" u="none" strike="noStrike">
                    <a:solidFill>
                      <a:srgbClr val="161616"/>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0–12 months</c:v>
                </c:pt>
                <c:pt idx="1">
                  <c:v>13–24</c:v>
                </c:pt>
                <c:pt idx="2">
                  <c:v>25–48</c:v>
                </c:pt>
                <c:pt idx="3">
                  <c:v>49+ months</c:v>
                </c:pt>
              </c:strCache>
            </c:strRef>
          </c:cat>
          <c:val>
            <c:numRef>
              <c:f>Sheet1!$B$2:$B$5</c:f>
              <c:numCache>
                <c:formatCode>General</c:formatCode>
                <c:ptCount val="4"/>
                <c:pt idx="0">
                  <c:v>47.4</c:v>
                </c:pt>
                <c:pt idx="1">
                  <c:v>28.7</c:v>
                </c:pt>
                <c:pt idx="2">
                  <c:v>20.399999999999999</c:v>
                </c:pt>
                <c:pt idx="3">
                  <c:v>9.5</c:v>
                </c:pt>
              </c:numCache>
            </c:numRef>
          </c:val>
          <c:smooth val="0"/>
          <c:extLst>
            <c:ext xmlns:c16="http://schemas.microsoft.com/office/drawing/2014/chart" uri="{C3380CC4-5D6E-409C-BE32-E72D297353CC}">
              <c16:uniqueId val="{00000000-9105-42BE-826F-BD6AEB0E561E}"/>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252"/>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12700" cap="flat">
              <a:solidFill>
                <a:srgbClr val="EDEF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D8D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churn</c:v>
                </c:pt>
              </c:strCache>
            </c:strRef>
          </c:tx>
          <c:spPr>
            <a:solidFill>
              <a:srgbClr val="0F62FE"/>
            </a:solidFill>
            <a:effectLst/>
          </c:spPr>
          <c:invertIfNegative val="0"/>
          <c:dLbls>
            <c:numFmt formatCode="0.0&quot;%&quot;" sourceLinked="0"/>
            <c:spPr>
              <a:noFill/>
              <a:ln>
                <a:noFill/>
              </a:ln>
              <a:effectLst/>
            </c:spPr>
            <c:txPr>
              <a:bodyPr/>
              <a:lstStyle/>
              <a:p>
                <a:pPr>
                  <a:defRPr sz="1200" b="0" i="0" u="none" strike="noStrike">
                    <a:solidFill>
                      <a:srgbClr val="16161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Competitor</c:v>
                </c:pt>
                <c:pt idx="1">
                  <c:v>Attitude</c:v>
                </c:pt>
                <c:pt idx="2">
                  <c:v>Dissatisfaction</c:v>
                </c:pt>
                <c:pt idx="3">
                  <c:v>Price</c:v>
                </c:pt>
                <c:pt idx="4">
                  <c:v>Other</c:v>
                </c:pt>
              </c:strCache>
            </c:strRef>
          </c:cat>
          <c:val>
            <c:numRef>
              <c:f>Sheet1!$B$2:$B$6</c:f>
              <c:numCache>
                <c:formatCode>General</c:formatCode>
                <c:ptCount val="5"/>
                <c:pt idx="0">
                  <c:v>45</c:v>
                </c:pt>
                <c:pt idx="1">
                  <c:v>16.8</c:v>
                </c:pt>
                <c:pt idx="2">
                  <c:v>16.2</c:v>
                </c:pt>
                <c:pt idx="3">
                  <c:v>11.3</c:v>
                </c:pt>
                <c:pt idx="4">
                  <c:v>10.7</c:v>
                </c:pt>
              </c:numCache>
            </c:numRef>
          </c:val>
          <c:extLst>
            <c:ext xmlns:c16="http://schemas.microsoft.com/office/drawing/2014/chart" uri="{C3380CC4-5D6E-409C-BE32-E72D297353CC}">
              <c16:uniqueId val="{00000000-3A99-44B3-BBF6-F87D7D07200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25252"/>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0"/>
        <c:axPos val="b"/>
        <c:majorGridlines>
          <c:spPr>
            <a:ln w="12700" cap="flat">
              <a:solidFill>
                <a:srgbClr val="ED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D8D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11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صباح الخير. أنا محمد مصطفى حسن عفيفي والنهاردة هعرض عليكم مشروع تحليل هروب العملاء لشركة اتصالات في كاليفورنيا. الفكرة إننا ناخد 7043 عميل ونفهم مين بيسيب وليه وفين وبعدين نطلع بخطة عملية تقلل الهروب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العرض مقسوم على أربع أسئلة. الأول قد إيه حجم المشكلة. التاني ليه العملاء بيسيبوا. التالت فين بيسيبوا. والرابع وهو الأهم نعمل إيه بعد كده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الشركة عندها 7043 عميل وربعهم تقريبا ساب. يعني 1869 عميل بنسبة 26.5% وده كلف الشركة حوالي 7.8 مليون دولار قيمة عمرية. كل نقطة مئوية نوفرها من الهروب بتحمي حوالي 295 ألف دولار</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الداتا كانت في 5 جداول منفصلة. حطيتهم في قاعدة بيانات SQL Server وربطتهم. الأربع جداول بتاعة العميل بيتربطوا على Customer ID وجدول السكان بيتربط على Zip Code من خلال جدول الـ location مش العميل مباشرة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الشغل مر بتلات مراحل. الأول SQL Server عشان أخزن الداتا وأربطها وأكتب أسئلة أطلع منها نتايج. بعدين Python للتنظيف والتجهيز. وأخيرا Tableau للداشبوردات والقصة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الشغل في Python كان 11 خطوة مقسومين على أربع مراحل. تحضير الداتا ودمجها. وبعدين التنظيف من الفراغات والقيم الشاذة. وبعدين بناء الفيتشرز وفحص الارتباط. وأخيرا التجهيز للموديل بالترميز والتقسيم والتوحيد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تلات قرارات في الكود غيّرت النتيجة فعلا. الأول حماية الأعمدة اللي أغلبها أصفار من إن الـ IQR يصفرها. والتاني ملّي الفراغات بمعنى مش بالـ mode. والتالت التقسيم قبل التوحيد عشان نتجنب تسريب البيانات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الداتا مكانتش جاهزة. أهم خمس مشاكل قابلتني ودي حلولها. وكل قرار كان ليه سبب مش عشوائي. مثلا الـ IQR كان ممكن يصفر أعمدة كاملة فحطيت حماية تتخطى الأعمدة اللي أغلبها أصفار</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بصيت على الأعمدة الرقمية بالـ Box plot وقصيت القيم الشاذة بطريقة الـ IQR من غير ما أمسح أي عميل. وقست الالتواء وجربت الـ log بس سبت الداتا على شكلها الطبيعي عشان تفضل مفهومة في الـ SQL والـ Tableau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الـ SQL كتبت 15 سؤال مرتبين كقصة على خمس محاور. قد إيه حجم الهروب. مين اللي بيسيب. فين. ليه. وإيه القيمة المعرضة للخطر. وكل سؤال بيجاوب على نقطة بيزنس واحدة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سؤال كان قد إيه حجم المشكلة. استخدمت CASE WHEN عشان أعد التاركين وأحسب النسبة. الناتج 7043 عميل و 1869 ساب بنسبة 26.5%. والرقم ده بقى خط الأساس اللي بقيس عليه كل حاجة بعد كده</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تاني سؤال مين اللي بيسيب بالظبط. استخدمت CASE عشان أقسم الأعمار لفئات و JOIN بين الديموغرافيا والحالة. وطلع إن كبار السن فوق 65 بيسيبوا بنسبة 41.7% يعني تقريبا ضعف أي فئة تانية. وسؤال تاني على الحالة الاجتماعية طلع إن المتجوز اللي عنده أطفال بيسيب 4.2% بس مقابل 34.4% للأعزب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تالت سؤال ليه بيسيبوا. استخدمت window function اسمها SUM OVER عشان أحسب نسبة كل فئة من الإجمالي في استعلام واحد. وطلع إن 45% سابوا عشان المنافسين. ولما نزلت مستوى أعمق في السبب التفصيلي طلع إن أهم سببين أجهزة أفضل وعروض أفضل من المنافسين</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دلوقتي ندخل في النتايج. أربع اكتشافات بيفسروا أغلب الهروب</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وأقوى اكتشاف. العقد الشهري بيسيب بنسبة 45.8% مقابل 2.5% بس للعقد سنتين. يعني تقريبا 18 ضعف. ومدة الالتزام دي حاجة الشركة تقدر تأثر فيها بالعروض والتسعير</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تاني اكتشاف. 47.4% من العملاء بيسيبوا في أول 12 شهر والنسبة بتنزل لـ 9.5% بعد أربع سنين. يعني الخطر مركز في البداية ولو العميل عدى أول سنة بيفضل. وده معناه إن الـ onboarding هو أهم لحظة</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تالت اكتشاف. لما سألنا العملاء نفسهم عن سبب الترك طلع إن 45% سابوا عشان المنافسين. وكمان عملاء الفايبر بيسيبوا بنسبة 40.7% وهم ثلثين التاركين. واللي مالهمش أمان ولا دعم فني بيسيبوا 33.4% مقابل 9% بس للي عندهم الاتنين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رابع اكتشاف. الهروب مش موزع بالتساوي جغرافيا. San Diego أعلى مدينة بنسبة 64.9% وبعدها Fallbrook و Temecula. والمناطق عالية الكثافة بتسيب أكتر. يعني جهد الاحتفاظ لازم يكون موجه مش موحد</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دي الأربع داشبوردات اللي بنيتها في Tableau. مرتبين كقصة من نظرة عامة للأسباب للجغرافيا للتوصيات. وكلهم متوصلين ببعض بأزرار تنقل وفيهم فلاتر</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وأخيرا القرار. خمس توصيات وكل واحدة مربوطة برقم حقيقي من التحليل. حوافز للعقود الطويلة وبرنامج onboarding لأول 90 يوم ومراجعة تسعير الفايبر وعروض احتفاظ وحماية شريحة الفايبر وعروض bundle للأمان والدعم</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الخلاصة إن الهروب مش عشوائي. العميل المعرض للخطر ليه صورة واضحة عقد شهري وسنة أولى وفايبر وفاتورة عالية وخدمات إضافية قليلة. ودي حاجة الشركة تقدر تشتغل عليها من النهاردة. شكرا وأنا جاهز لأي أسئلة</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0"/>
        </a:solidFill>
        <a:effectLst/>
      </p:bgPr>
    </p:bg>
    <p:spTree>
      <p:nvGrpSpPr>
        <p:cNvPr id="1" name=""/>
        <p:cNvGrpSpPr/>
        <p:nvPr/>
      </p:nvGrpSpPr>
      <p:grpSpPr>
        <a:xfrm>
          <a:off x="0" y="0"/>
          <a:ext cx="0" cy="0"/>
          <a:chOff x="0" y="0"/>
          <a:chExt cx="0" cy="0"/>
        </a:xfrm>
      </p:grpSpPr>
      <p:sp>
        <p:nvSpPr>
          <p:cNvPr id="2" name="Shape 0"/>
          <p:cNvSpPr/>
          <p:nvPr/>
        </p:nvSpPr>
        <p:spPr>
          <a:xfrm>
            <a:off x="822960" y="1417320"/>
            <a:ext cx="1051560" cy="475488"/>
          </a:xfrm>
          <a:prstGeom prst="rect">
            <a:avLst/>
          </a:prstGeom>
          <a:solidFill>
            <a:srgbClr val="0F62FE"/>
          </a:solidFill>
          <a:ln/>
        </p:spPr>
      </p:sp>
      <p:sp>
        <p:nvSpPr>
          <p:cNvPr id="3" name="Text 1"/>
          <p:cNvSpPr/>
          <p:nvPr/>
        </p:nvSpPr>
        <p:spPr>
          <a:xfrm>
            <a:off x="822960" y="1417320"/>
            <a:ext cx="1051560" cy="475488"/>
          </a:xfrm>
          <a:prstGeom prst="rect">
            <a:avLst/>
          </a:prstGeom>
          <a:noFill/>
          <a:ln/>
        </p:spPr>
        <p:txBody>
          <a:bodyPr wrap="square" lIns="0" tIns="0" rIns="0" bIns="0" rtlCol="0" anchor="ctr"/>
          <a:lstStyle/>
          <a:p>
            <a:pPr marL="0" indent="0" algn="ctr">
              <a:buNone/>
            </a:pPr>
            <a:r>
              <a:rPr lang="en-US" sz="2200" b="1" kern="0" spc="200" dirty="0">
                <a:solidFill>
                  <a:srgbClr val="FFFFFF"/>
                </a:solidFill>
                <a:latin typeface="Arial" pitchFamily="34" charset="0"/>
                <a:ea typeface="Arial" pitchFamily="34" charset="-122"/>
                <a:cs typeface="Arial" pitchFamily="34" charset="-120"/>
              </a:rPr>
              <a:t>IBM</a:t>
            </a:r>
            <a:endParaRPr lang="en-US" sz="2200" dirty="0"/>
          </a:p>
        </p:txBody>
      </p:sp>
      <p:sp>
        <p:nvSpPr>
          <p:cNvPr id="4" name="Text 2"/>
          <p:cNvSpPr/>
          <p:nvPr/>
        </p:nvSpPr>
        <p:spPr>
          <a:xfrm>
            <a:off x="822960" y="228600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Customer Churn Analytics</a:t>
            </a:r>
            <a:endParaRPr lang="en-US" sz="5200" dirty="0"/>
          </a:p>
        </p:txBody>
      </p:sp>
      <p:sp>
        <p:nvSpPr>
          <p:cNvPr id="5" name="Text 3"/>
          <p:cNvSpPr/>
          <p:nvPr/>
        </p:nvSpPr>
        <p:spPr>
          <a:xfrm>
            <a:off x="822960" y="3200400"/>
            <a:ext cx="10515600" cy="457200"/>
          </a:xfrm>
          <a:prstGeom prst="rect">
            <a:avLst/>
          </a:prstGeom>
          <a:noFill/>
          <a:ln/>
        </p:spPr>
        <p:txBody>
          <a:bodyPr wrap="square" lIns="0" tIns="0" rIns="0" bIns="0" rtlCol="0" anchor="ctr"/>
          <a:lstStyle/>
          <a:p>
            <a:pPr marL="0" indent="0">
              <a:buNone/>
            </a:pPr>
            <a:r>
              <a:rPr lang="en-US" sz="2100" dirty="0">
                <a:solidFill>
                  <a:srgbClr val="4589FF"/>
                </a:solidFill>
                <a:latin typeface="Arial" pitchFamily="34" charset="0"/>
                <a:ea typeface="Arial" pitchFamily="34" charset="-122"/>
                <a:cs typeface="Arial" pitchFamily="34" charset="-120"/>
              </a:rPr>
              <a:t>Telco — Customer &amp; Network Services</a:t>
            </a:r>
            <a:endParaRPr lang="en-US" sz="2100" dirty="0"/>
          </a:p>
        </p:txBody>
      </p:sp>
      <p:sp>
        <p:nvSpPr>
          <p:cNvPr id="6" name="Text 4"/>
          <p:cNvSpPr/>
          <p:nvPr/>
        </p:nvSpPr>
        <p:spPr>
          <a:xfrm>
            <a:off x="822960" y="3703320"/>
            <a:ext cx="10515600" cy="365760"/>
          </a:xfrm>
          <a:prstGeom prst="rect">
            <a:avLst/>
          </a:prstGeom>
          <a:noFill/>
          <a:ln/>
        </p:spPr>
        <p:txBody>
          <a:bodyPr wrap="square" lIns="0" tIns="0" rIns="0" bIns="0" rtlCol="0" anchor="ctr"/>
          <a:lstStyle/>
          <a:p>
            <a:pPr marL="0" indent="0">
              <a:buNone/>
            </a:pPr>
            <a:r>
              <a:rPr lang="en-US" sz="1500" i="1" dirty="0">
                <a:solidFill>
                  <a:srgbClr val="9AA7BD"/>
                </a:solidFill>
                <a:latin typeface="Arial" pitchFamily="34" charset="0"/>
                <a:ea typeface="Arial" pitchFamily="34" charset="-122"/>
                <a:cs typeface="Arial" pitchFamily="34" charset="-120"/>
              </a:rPr>
              <a:t>Turning 7,043 customer records into a retention strategy</a:t>
            </a:r>
            <a:endParaRPr lang="en-US" sz="1500" dirty="0"/>
          </a:p>
        </p:txBody>
      </p:sp>
      <p:sp>
        <p:nvSpPr>
          <p:cNvPr id="7" name="Text 5"/>
          <p:cNvSpPr/>
          <p:nvPr/>
        </p:nvSpPr>
        <p:spPr>
          <a:xfrm>
            <a:off x="822960" y="4983480"/>
            <a:ext cx="64008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Mohamed Mostafa Hassan Afify</a:t>
            </a:r>
            <a:endParaRPr lang="en-US" sz="1600" dirty="0"/>
          </a:p>
        </p:txBody>
      </p:sp>
      <p:sp>
        <p:nvSpPr>
          <p:cNvPr id="8" name="Text 6"/>
          <p:cNvSpPr/>
          <p:nvPr/>
        </p:nvSpPr>
        <p:spPr>
          <a:xfrm>
            <a:off x="822960" y="5303520"/>
            <a:ext cx="6400800" cy="274320"/>
          </a:xfrm>
          <a:prstGeom prst="rect">
            <a:avLst/>
          </a:prstGeom>
          <a:noFill/>
          <a:ln/>
        </p:spPr>
        <p:txBody>
          <a:bodyPr wrap="square" lIns="0" tIns="0" rIns="0" bIns="0" rtlCol="0" anchor="ctr"/>
          <a:lstStyle/>
          <a:p>
            <a:pPr marL="0" indent="0">
              <a:buNone/>
            </a:pPr>
            <a:r>
              <a:rPr lang="en-US" sz="1200" dirty="0">
                <a:solidFill>
                  <a:srgbClr val="9AA7BD"/>
                </a:solidFill>
                <a:latin typeface="Arial" pitchFamily="34" charset="0"/>
                <a:ea typeface="Arial" pitchFamily="34" charset="-122"/>
                <a:cs typeface="Arial" pitchFamily="34" charset="-120"/>
              </a:rPr>
              <a:t>NTI — Creativa · Data Analysis &amp; Freelancing</a:t>
            </a:r>
            <a:endParaRPr lang="en-US" sz="1200" dirty="0"/>
          </a:p>
        </p:txBody>
      </p:sp>
      <p:sp>
        <p:nvSpPr>
          <p:cNvPr id="9" name="Text 7"/>
          <p:cNvSpPr/>
          <p:nvPr/>
        </p:nvSpPr>
        <p:spPr>
          <a:xfrm>
            <a:off x="822960" y="5596128"/>
            <a:ext cx="6400800" cy="274320"/>
          </a:xfrm>
          <a:prstGeom prst="rect">
            <a:avLst/>
          </a:prstGeom>
          <a:noFill/>
          <a:ln/>
        </p:spPr>
        <p:txBody>
          <a:bodyPr wrap="square" lIns="0" tIns="0" rIns="0" bIns="0" rtlCol="0" anchor="ctr"/>
          <a:lstStyle/>
          <a:p>
            <a:pPr marL="0" indent="0">
              <a:buNone/>
            </a:pPr>
            <a:r>
              <a:rPr lang="en-US" sz="1200" dirty="0">
                <a:solidFill>
                  <a:srgbClr val="9AA7BD"/>
                </a:solidFill>
                <a:latin typeface="Arial" pitchFamily="34" charset="0"/>
                <a:ea typeface="Arial" pitchFamily="34" charset="-122"/>
                <a:cs typeface="Arial" pitchFamily="34" charset="-120"/>
              </a:rPr>
              <a:t>Python  ·  SQL Server  ·  Tableau</a:t>
            </a:r>
            <a:endParaRPr lang="en-US" sz="1200" dirty="0"/>
          </a:p>
        </p:txBody>
      </p:sp>
      <p:sp>
        <p:nvSpPr>
          <p:cNvPr id="10" name="Shape 0"/>
          <p:cNvSpPr/>
          <p:nvPr/>
        </p:nvSpPr>
        <p:spPr>
          <a:xfrm>
            <a:off x="822960" y="1417320"/>
            <a:ext cx="1051560" cy="475488"/>
          </a:xfrm>
          <a:prstGeom prst="rect">
            <a:avLst/>
          </a:prstGeom>
          <a:solidFill>
            <a:schemeClr val="bg1">
              <a:lumMod val="95000"/>
            </a:schemeClr>
          </a:solidFill>
          <a:ln>
            <a:solidFill>
              <a:schemeClr val="accent1">
                <a:lumMod val="75000"/>
              </a:schemeClr>
            </a:solidFill>
          </a:ln>
        </p:spPr>
      </p:sp>
      <p:sp>
        <p:nvSpPr>
          <p:cNvPr id="11" name="Text 1"/>
          <p:cNvSpPr/>
          <p:nvPr/>
        </p:nvSpPr>
        <p:spPr>
          <a:xfrm>
            <a:off x="822960" y="1417320"/>
            <a:ext cx="1051560" cy="475488"/>
          </a:xfrm>
          <a:prstGeom prst="rect">
            <a:avLst/>
          </a:prstGeom>
          <a:noFill/>
          <a:ln/>
        </p:spPr>
        <p:txBody>
          <a:bodyPr wrap="square" lIns="0" tIns="0" rIns="0" bIns="0" rtlCol="0" anchor="ctr"/>
          <a:lstStyle/>
          <a:p>
            <a:pPr marL="0" indent="0" algn="ctr">
              <a:buNone/>
            </a:pPr>
            <a:endParaRPr lang="en-US" sz="22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100" y="1481642"/>
            <a:ext cx="867737" cy="349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AGENDA</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The story in four questions</a:t>
            </a:r>
            <a:endParaRPr lang="en-US" sz="3200" dirty="0"/>
          </a:p>
        </p:txBody>
      </p:sp>
      <p:sp>
        <p:nvSpPr>
          <p:cNvPr id="4" name="Shape 2"/>
          <p:cNvSpPr/>
          <p:nvPr/>
        </p:nvSpPr>
        <p:spPr>
          <a:xfrm>
            <a:off x="548640" y="1600200"/>
            <a:ext cx="11064240" cy="896112"/>
          </a:xfrm>
          <a:prstGeom prst="roundRect">
            <a:avLst>
              <a:gd name="adj" fmla="val 8163"/>
            </a:avLst>
          </a:prstGeom>
          <a:solidFill>
            <a:srgbClr val="F4F6FA"/>
          </a:solidFill>
          <a:ln w="12700">
            <a:solidFill>
              <a:srgbClr val="E4E9F2"/>
            </a:solidFill>
            <a:prstDash val="solid"/>
          </a:ln>
        </p:spPr>
      </p:sp>
      <p:sp>
        <p:nvSpPr>
          <p:cNvPr id="5" name="Shape 3"/>
          <p:cNvSpPr/>
          <p:nvPr/>
        </p:nvSpPr>
        <p:spPr>
          <a:xfrm>
            <a:off x="868680" y="1856232"/>
            <a:ext cx="384048" cy="384048"/>
          </a:xfrm>
          <a:prstGeom prst="ellipse">
            <a:avLst/>
          </a:prstGeom>
          <a:solidFill>
            <a:srgbClr val="DA1E28"/>
          </a:solidFill>
          <a:ln/>
        </p:spPr>
      </p:sp>
      <p:sp>
        <p:nvSpPr>
          <p:cNvPr id="6" name="Text 4"/>
          <p:cNvSpPr/>
          <p:nvPr/>
        </p:nvSpPr>
        <p:spPr>
          <a:xfrm>
            <a:off x="868680" y="18562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63040" y="1719072"/>
            <a:ext cx="4754880" cy="329184"/>
          </a:xfrm>
          <a:prstGeom prst="rect">
            <a:avLst/>
          </a:prstGeom>
          <a:noFill/>
          <a:ln/>
        </p:spPr>
        <p:txBody>
          <a:bodyPr wrap="square" lIns="0" tIns="0" rIns="0" bIns="0" rtlCol="0" anchor="ctr"/>
          <a:lstStyle/>
          <a:p>
            <a:pPr marL="0" indent="0">
              <a:buNone/>
            </a:pPr>
            <a:r>
              <a:rPr lang="en-US" sz="1700" b="1" dirty="0">
                <a:solidFill>
                  <a:srgbClr val="0F2340"/>
                </a:solidFill>
                <a:latin typeface="Arial" pitchFamily="34" charset="0"/>
                <a:ea typeface="Arial" pitchFamily="34" charset="-122"/>
                <a:cs typeface="Arial" pitchFamily="34" charset="-120"/>
              </a:rPr>
              <a:t>How big is the problem?</a:t>
            </a:r>
            <a:endParaRPr lang="en-US" sz="1700" dirty="0"/>
          </a:p>
        </p:txBody>
      </p:sp>
      <p:sp>
        <p:nvSpPr>
          <p:cNvPr id="8" name="Text 6"/>
          <p:cNvSpPr/>
          <p:nvPr/>
        </p:nvSpPr>
        <p:spPr>
          <a:xfrm>
            <a:off x="1463040" y="2057400"/>
            <a:ext cx="9601200" cy="292608"/>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The size of churn and what it costs</a:t>
            </a:r>
            <a:endParaRPr lang="en-US" sz="1300" dirty="0"/>
          </a:p>
        </p:txBody>
      </p:sp>
      <p:sp>
        <p:nvSpPr>
          <p:cNvPr id="9" name="Shape 7"/>
          <p:cNvSpPr/>
          <p:nvPr/>
        </p:nvSpPr>
        <p:spPr>
          <a:xfrm>
            <a:off x="548640" y="2679192"/>
            <a:ext cx="11064240" cy="896112"/>
          </a:xfrm>
          <a:prstGeom prst="roundRect">
            <a:avLst>
              <a:gd name="adj" fmla="val 8163"/>
            </a:avLst>
          </a:prstGeom>
          <a:solidFill>
            <a:srgbClr val="F4F6FA"/>
          </a:solidFill>
          <a:ln w="12700">
            <a:solidFill>
              <a:srgbClr val="E4E9F2"/>
            </a:solidFill>
            <a:prstDash val="solid"/>
          </a:ln>
        </p:spPr>
      </p:sp>
      <p:sp>
        <p:nvSpPr>
          <p:cNvPr id="10" name="Shape 8"/>
          <p:cNvSpPr/>
          <p:nvPr/>
        </p:nvSpPr>
        <p:spPr>
          <a:xfrm>
            <a:off x="868680" y="2935224"/>
            <a:ext cx="384048" cy="384048"/>
          </a:xfrm>
          <a:prstGeom prst="ellipse">
            <a:avLst/>
          </a:prstGeom>
          <a:solidFill>
            <a:srgbClr val="0F62FE"/>
          </a:solidFill>
          <a:ln/>
        </p:spPr>
      </p:sp>
      <p:sp>
        <p:nvSpPr>
          <p:cNvPr id="11" name="Text 9"/>
          <p:cNvSpPr/>
          <p:nvPr/>
        </p:nvSpPr>
        <p:spPr>
          <a:xfrm>
            <a:off x="868680" y="293522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63040" y="2798064"/>
            <a:ext cx="4754880" cy="329184"/>
          </a:xfrm>
          <a:prstGeom prst="rect">
            <a:avLst/>
          </a:prstGeom>
          <a:noFill/>
          <a:ln/>
        </p:spPr>
        <p:txBody>
          <a:bodyPr wrap="square" lIns="0" tIns="0" rIns="0" bIns="0" rtlCol="0" anchor="ctr"/>
          <a:lstStyle/>
          <a:p>
            <a:pPr marL="0" indent="0">
              <a:buNone/>
            </a:pPr>
            <a:r>
              <a:rPr lang="en-US" sz="1700" b="1" dirty="0">
                <a:solidFill>
                  <a:srgbClr val="0F2340"/>
                </a:solidFill>
                <a:latin typeface="Arial" pitchFamily="34" charset="0"/>
                <a:ea typeface="Arial" pitchFamily="34" charset="-122"/>
                <a:cs typeface="Arial" pitchFamily="34" charset="-120"/>
              </a:rPr>
              <a:t>Why do customers leave?</a:t>
            </a:r>
            <a:endParaRPr lang="en-US" sz="1700" dirty="0"/>
          </a:p>
        </p:txBody>
      </p:sp>
      <p:sp>
        <p:nvSpPr>
          <p:cNvPr id="13" name="Text 11"/>
          <p:cNvSpPr/>
          <p:nvPr/>
        </p:nvSpPr>
        <p:spPr>
          <a:xfrm>
            <a:off x="1463040" y="3136392"/>
            <a:ext cx="9601200" cy="292608"/>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Contract, service and payment drivers</a:t>
            </a:r>
            <a:endParaRPr lang="en-US" sz="1300" dirty="0"/>
          </a:p>
        </p:txBody>
      </p:sp>
      <p:sp>
        <p:nvSpPr>
          <p:cNvPr id="14" name="Shape 12"/>
          <p:cNvSpPr/>
          <p:nvPr/>
        </p:nvSpPr>
        <p:spPr>
          <a:xfrm>
            <a:off x="548640" y="3758184"/>
            <a:ext cx="11064240" cy="896112"/>
          </a:xfrm>
          <a:prstGeom prst="roundRect">
            <a:avLst>
              <a:gd name="adj" fmla="val 8163"/>
            </a:avLst>
          </a:prstGeom>
          <a:solidFill>
            <a:srgbClr val="F4F6FA"/>
          </a:solidFill>
          <a:ln w="12700">
            <a:solidFill>
              <a:srgbClr val="E4E9F2"/>
            </a:solidFill>
            <a:prstDash val="solid"/>
          </a:ln>
        </p:spPr>
      </p:sp>
      <p:sp>
        <p:nvSpPr>
          <p:cNvPr id="15" name="Shape 13"/>
          <p:cNvSpPr/>
          <p:nvPr/>
        </p:nvSpPr>
        <p:spPr>
          <a:xfrm>
            <a:off x="868680" y="4014216"/>
            <a:ext cx="384048" cy="384048"/>
          </a:xfrm>
          <a:prstGeom prst="ellipse">
            <a:avLst/>
          </a:prstGeom>
          <a:solidFill>
            <a:srgbClr val="0F62FE"/>
          </a:solidFill>
          <a:ln/>
        </p:spPr>
      </p:sp>
      <p:sp>
        <p:nvSpPr>
          <p:cNvPr id="16" name="Text 14"/>
          <p:cNvSpPr/>
          <p:nvPr/>
        </p:nvSpPr>
        <p:spPr>
          <a:xfrm>
            <a:off x="868680" y="40142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63040" y="3877056"/>
            <a:ext cx="4754880" cy="329184"/>
          </a:xfrm>
          <a:prstGeom prst="rect">
            <a:avLst/>
          </a:prstGeom>
          <a:noFill/>
          <a:ln/>
        </p:spPr>
        <p:txBody>
          <a:bodyPr wrap="square" lIns="0" tIns="0" rIns="0" bIns="0" rtlCol="0" anchor="ctr"/>
          <a:lstStyle/>
          <a:p>
            <a:pPr marL="0" indent="0">
              <a:buNone/>
            </a:pPr>
            <a:r>
              <a:rPr lang="en-US" sz="1700" b="1" dirty="0">
                <a:solidFill>
                  <a:srgbClr val="0F2340"/>
                </a:solidFill>
                <a:latin typeface="Arial" pitchFamily="34" charset="0"/>
                <a:ea typeface="Arial" pitchFamily="34" charset="-122"/>
                <a:cs typeface="Arial" pitchFamily="34" charset="-120"/>
              </a:rPr>
              <a:t>Where are they leaving?</a:t>
            </a:r>
            <a:endParaRPr lang="en-US" sz="1700" dirty="0"/>
          </a:p>
        </p:txBody>
      </p:sp>
      <p:sp>
        <p:nvSpPr>
          <p:cNvPr id="18" name="Text 16"/>
          <p:cNvSpPr/>
          <p:nvPr/>
        </p:nvSpPr>
        <p:spPr>
          <a:xfrm>
            <a:off x="1463040" y="4215384"/>
            <a:ext cx="9601200" cy="292608"/>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Geographic hotspots across California</a:t>
            </a:r>
            <a:endParaRPr lang="en-US" sz="1300" dirty="0"/>
          </a:p>
        </p:txBody>
      </p:sp>
      <p:sp>
        <p:nvSpPr>
          <p:cNvPr id="19" name="Shape 17"/>
          <p:cNvSpPr/>
          <p:nvPr/>
        </p:nvSpPr>
        <p:spPr>
          <a:xfrm>
            <a:off x="548640" y="4837176"/>
            <a:ext cx="11064240" cy="896112"/>
          </a:xfrm>
          <a:prstGeom prst="roundRect">
            <a:avLst>
              <a:gd name="adj" fmla="val 8163"/>
            </a:avLst>
          </a:prstGeom>
          <a:solidFill>
            <a:srgbClr val="F4F6FA"/>
          </a:solidFill>
          <a:ln w="12700">
            <a:solidFill>
              <a:srgbClr val="E4E9F2"/>
            </a:solidFill>
            <a:prstDash val="solid"/>
          </a:ln>
        </p:spPr>
      </p:sp>
      <p:sp>
        <p:nvSpPr>
          <p:cNvPr id="20" name="Shape 18"/>
          <p:cNvSpPr/>
          <p:nvPr/>
        </p:nvSpPr>
        <p:spPr>
          <a:xfrm>
            <a:off x="868680" y="5093208"/>
            <a:ext cx="384048" cy="384048"/>
          </a:xfrm>
          <a:prstGeom prst="ellipse">
            <a:avLst/>
          </a:prstGeom>
          <a:solidFill>
            <a:srgbClr val="1AA99B"/>
          </a:solidFill>
          <a:ln/>
        </p:spPr>
      </p:sp>
      <p:sp>
        <p:nvSpPr>
          <p:cNvPr id="21" name="Text 19"/>
          <p:cNvSpPr/>
          <p:nvPr/>
        </p:nvSpPr>
        <p:spPr>
          <a:xfrm>
            <a:off x="868680" y="50932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1463040" y="4956048"/>
            <a:ext cx="4754880" cy="329184"/>
          </a:xfrm>
          <a:prstGeom prst="rect">
            <a:avLst/>
          </a:prstGeom>
          <a:noFill/>
          <a:ln/>
        </p:spPr>
        <p:txBody>
          <a:bodyPr wrap="square" lIns="0" tIns="0" rIns="0" bIns="0" rtlCol="0" anchor="ctr"/>
          <a:lstStyle/>
          <a:p>
            <a:pPr marL="0" indent="0">
              <a:buNone/>
            </a:pPr>
            <a:r>
              <a:rPr lang="en-US" sz="1700" b="1" dirty="0">
                <a:solidFill>
                  <a:srgbClr val="0F2340"/>
                </a:solidFill>
                <a:latin typeface="Arial" pitchFamily="34" charset="0"/>
                <a:ea typeface="Arial" pitchFamily="34" charset="-122"/>
                <a:cs typeface="Arial" pitchFamily="34" charset="-120"/>
              </a:rPr>
              <a:t>So what do we do?</a:t>
            </a:r>
            <a:endParaRPr lang="en-US" sz="1700" dirty="0"/>
          </a:p>
        </p:txBody>
      </p:sp>
      <p:sp>
        <p:nvSpPr>
          <p:cNvPr id="23" name="Text 21"/>
          <p:cNvSpPr/>
          <p:nvPr/>
        </p:nvSpPr>
        <p:spPr>
          <a:xfrm>
            <a:off x="1463040" y="5294376"/>
            <a:ext cx="9601200" cy="292608"/>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Five data-backed recommendations</a:t>
            </a:r>
            <a:endParaRPr lang="en-US" sz="1300" dirty="0"/>
          </a:p>
        </p:txBody>
      </p:sp>
      <p:sp>
        <p:nvSpPr>
          <p:cNvPr id="24" name="Text 22"/>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25" name="Text 23"/>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A quarter of the customer base is walking away</a:t>
            </a:r>
            <a:endParaRPr lang="en-US" sz="3200" dirty="0"/>
          </a:p>
        </p:txBody>
      </p:sp>
      <p:sp>
        <p:nvSpPr>
          <p:cNvPr id="4" name="Shape 2"/>
          <p:cNvSpPr/>
          <p:nvPr/>
        </p:nvSpPr>
        <p:spPr>
          <a:xfrm>
            <a:off x="548640" y="1691640"/>
            <a:ext cx="2615184" cy="1691640"/>
          </a:xfrm>
          <a:prstGeom prst="roundRect">
            <a:avLst>
              <a:gd name="adj" fmla="val 4324"/>
            </a:avLst>
          </a:prstGeom>
          <a:solidFill>
            <a:srgbClr val="F4F6FA"/>
          </a:solidFill>
          <a:ln w="12700">
            <a:solidFill>
              <a:srgbClr val="E4E9F2"/>
            </a:solidFill>
            <a:prstDash val="solid"/>
          </a:ln>
        </p:spPr>
      </p:sp>
      <p:sp>
        <p:nvSpPr>
          <p:cNvPr id="5" name="Text 3"/>
          <p:cNvSpPr/>
          <p:nvPr/>
        </p:nvSpPr>
        <p:spPr>
          <a:xfrm>
            <a:off x="548640" y="1874520"/>
            <a:ext cx="2615184" cy="868680"/>
          </a:xfrm>
          <a:prstGeom prst="rect">
            <a:avLst/>
          </a:prstGeom>
          <a:noFill/>
          <a:ln/>
        </p:spPr>
        <p:txBody>
          <a:bodyPr wrap="square" lIns="0" tIns="0" rIns="0" bIns="0" rtlCol="0" anchor="ctr"/>
          <a:lstStyle/>
          <a:p>
            <a:pPr marL="0" indent="0" algn="ctr">
              <a:buNone/>
            </a:pPr>
            <a:r>
              <a:rPr lang="en-US" sz="4200" b="1" dirty="0">
                <a:solidFill>
                  <a:srgbClr val="161616"/>
                </a:solidFill>
                <a:latin typeface="Arial" pitchFamily="34" charset="0"/>
                <a:ea typeface="Arial" pitchFamily="34" charset="-122"/>
                <a:cs typeface="Arial" pitchFamily="34" charset="-120"/>
              </a:rPr>
              <a:t>7,043</a:t>
            </a:r>
            <a:endParaRPr lang="en-US" sz="4200" dirty="0"/>
          </a:p>
        </p:txBody>
      </p:sp>
      <p:sp>
        <p:nvSpPr>
          <p:cNvPr id="6" name="Text 4"/>
          <p:cNvSpPr/>
          <p:nvPr/>
        </p:nvSpPr>
        <p:spPr>
          <a:xfrm>
            <a:off x="548640" y="2743200"/>
            <a:ext cx="2615184" cy="365760"/>
          </a:xfrm>
          <a:prstGeom prst="rect">
            <a:avLst/>
          </a:prstGeom>
          <a:noFill/>
          <a:ln/>
        </p:spPr>
        <p:txBody>
          <a:bodyPr wrap="square" lIns="0" tIns="0" rIns="0" bIns="0" rtlCol="0" anchor="ctr"/>
          <a:lstStyle/>
          <a:p>
            <a:pPr marL="0" indent="0" algn="ctr">
              <a:buNone/>
            </a:pPr>
            <a:r>
              <a:rPr lang="en-US" sz="1300" dirty="0">
                <a:solidFill>
                  <a:srgbClr val="525252"/>
                </a:solidFill>
                <a:latin typeface="Arial" pitchFamily="34" charset="0"/>
                <a:ea typeface="Arial" pitchFamily="34" charset="-122"/>
                <a:cs typeface="Arial" pitchFamily="34" charset="-120"/>
              </a:rPr>
              <a:t>Total customers</a:t>
            </a:r>
            <a:endParaRPr lang="en-US" sz="1300" dirty="0"/>
          </a:p>
        </p:txBody>
      </p:sp>
      <p:sp>
        <p:nvSpPr>
          <p:cNvPr id="7" name="Shape 5"/>
          <p:cNvSpPr/>
          <p:nvPr/>
        </p:nvSpPr>
        <p:spPr>
          <a:xfrm>
            <a:off x="3374136" y="1691640"/>
            <a:ext cx="2615184" cy="1691640"/>
          </a:xfrm>
          <a:prstGeom prst="roundRect">
            <a:avLst>
              <a:gd name="adj" fmla="val 4324"/>
            </a:avLst>
          </a:prstGeom>
          <a:solidFill>
            <a:srgbClr val="F4F6FA"/>
          </a:solidFill>
          <a:ln w="12700">
            <a:solidFill>
              <a:srgbClr val="E4E9F2"/>
            </a:solidFill>
            <a:prstDash val="solid"/>
          </a:ln>
        </p:spPr>
      </p:sp>
      <p:sp>
        <p:nvSpPr>
          <p:cNvPr id="8" name="Text 6"/>
          <p:cNvSpPr/>
          <p:nvPr/>
        </p:nvSpPr>
        <p:spPr>
          <a:xfrm>
            <a:off x="3374136" y="1874520"/>
            <a:ext cx="2615184" cy="868680"/>
          </a:xfrm>
          <a:prstGeom prst="rect">
            <a:avLst/>
          </a:prstGeom>
          <a:noFill/>
          <a:ln/>
        </p:spPr>
        <p:txBody>
          <a:bodyPr wrap="square" lIns="0" tIns="0" rIns="0" bIns="0" rtlCol="0" anchor="ctr"/>
          <a:lstStyle/>
          <a:p>
            <a:pPr marL="0" indent="0" algn="ctr">
              <a:buNone/>
            </a:pPr>
            <a:r>
              <a:rPr lang="en-US" sz="4200" b="1" dirty="0">
                <a:solidFill>
                  <a:srgbClr val="DA1E28"/>
                </a:solidFill>
                <a:latin typeface="Arial" pitchFamily="34" charset="0"/>
                <a:ea typeface="Arial" pitchFamily="34" charset="-122"/>
                <a:cs typeface="Arial" pitchFamily="34" charset="-120"/>
              </a:rPr>
              <a:t>1,869</a:t>
            </a:r>
            <a:endParaRPr lang="en-US" sz="4200" dirty="0"/>
          </a:p>
        </p:txBody>
      </p:sp>
      <p:sp>
        <p:nvSpPr>
          <p:cNvPr id="9" name="Text 7"/>
          <p:cNvSpPr/>
          <p:nvPr/>
        </p:nvSpPr>
        <p:spPr>
          <a:xfrm>
            <a:off x="3374136" y="2743200"/>
            <a:ext cx="2615184" cy="365760"/>
          </a:xfrm>
          <a:prstGeom prst="rect">
            <a:avLst/>
          </a:prstGeom>
          <a:noFill/>
          <a:ln/>
        </p:spPr>
        <p:txBody>
          <a:bodyPr wrap="square" lIns="0" tIns="0" rIns="0" bIns="0" rtlCol="0" anchor="ctr"/>
          <a:lstStyle/>
          <a:p>
            <a:pPr marL="0" indent="0" algn="ctr">
              <a:buNone/>
            </a:pPr>
            <a:r>
              <a:rPr lang="en-US" sz="1300" dirty="0">
                <a:solidFill>
                  <a:srgbClr val="525252"/>
                </a:solidFill>
                <a:latin typeface="Arial" pitchFamily="34" charset="0"/>
                <a:ea typeface="Arial" pitchFamily="34" charset="-122"/>
                <a:cs typeface="Arial" pitchFamily="34" charset="-120"/>
              </a:rPr>
              <a:t>Customers lost</a:t>
            </a:r>
            <a:endParaRPr lang="en-US" sz="1300" dirty="0"/>
          </a:p>
        </p:txBody>
      </p:sp>
      <p:sp>
        <p:nvSpPr>
          <p:cNvPr id="10" name="Shape 8"/>
          <p:cNvSpPr/>
          <p:nvPr/>
        </p:nvSpPr>
        <p:spPr>
          <a:xfrm>
            <a:off x="6199632" y="1691640"/>
            <a:ext cx="2615184" cy="1691640"/>
          </a:xfrm>
          <a:prstGeom prst="roundRect">
            <a:avLst>
              <a:gd name="adj" fmla="val 4324"/>
            </a:avLst>
          </a:prstGeom>
          <a:solidFill>
            <a:srgbClr val="F4F6FA"/>
          </a:solidFill>
          <a:ln w="12700">
            <a:solidFill>
              <a:srgbClr val="E4E9F2"/>
            </a:solidFill>
            <a:prstDash val="solid"/>
          </a:ln>
        </p:spPr>
      </p:sp>
      <p:sp>
        <p:nvSpPr>
          <p:cNvPr id="11" name="Text 9"/>
          <p:cNvSpPr/>
          <p:nvPr/>
        </p:nvSpPr>
        <p:spPr>
          <a:xfrm>
            <a:off x="6199632" y="1874520"/>
            <a:ext cx="2615184" cy="868680"/>
          </a:xfrm>
          <a:prstGeom prst="rect">
            <a:avLst/>
          </a:prstGeom>
          <a:noFill/>
          <a:ln/>
        </p:spPr>
        <p:txBody>
          <a:bodyPr wrap="square" lIns="0" tIns="0" rIns="0" bIns="0" rtlCol="0" anchor="ctr"/>
          <a:lstStyle/>
          <a:p>
            <a:pPr marL="0" indent="0" algn="ctr">
              <a:buNone/>
            </a:pPr>
            <a:r>
              <a:rPr lang="en-US" sz="4200" b="1" dirty="0">
                <a:solidFill>
                  <a:srgbClr val="DA1E28"/>
                </a:solidFill>
                <a:latin typeface="Arial" pitchFamily="34" charset="0"/>
                <a:ea typeface="Arial" pitchFamily="34" charset="-122"/>
                <a:cs typeface="Arial" pitchFamily="34" charset="-120"/>
              </a:rPr>
              <a:t>26.5%</a:t>
            </a:r>
            <a:endParaRPr lang="en-US" sz="4200" dirty="0"/>
          </a:p>
        </p:txBody>
      </p:sp>
      <p:sp>
        <p:nvSpPr>
          <p:cNvPr id="12" name="Text 10"/>
          <p:cNvSpPr/>
          <p:nvPr/>
        </p:nvSpPr>
        <p:spPr>
          <a:xfrm>
            <a:off x="6199632" y="2743200"/>
            <a:ext cx="2615184" cy="365760"/>
          </a:xfrm>
          <a:prstGeom prst="rect">
            <a:avLst/>
          </a:prstGeom>
          <a:noFill/>
          <a:ln/>
        </p:spPr>
        <p:txBody>
          <a:bodyPr wrap="square" lIns="0" tIns="0" rIns="0" bIns="0" rtlCol="0" anchor="ctr"/>
          <a:lstStyle/>
          <a:p>
            <a:pPr marL="0" indent="0" algn="ctr">
              <a:buNone/>
            </a:pPr>
            <a:r>
              <a:rPr lang="en-US" sz="1300" dirty="0">
                <a:solidFill>
                  <a:srgbClr val="525252"/>
                </a:solidFill>
                <a:latin typeface="Arial" pitchFamily="34" charset="0"/>
                <a:ea typeface="Arial" pitchFamily="34" charset="-122"/>
                <a:cs typeface="Arial" pitchFamily="34" charset="-120"/>
              </a:rPr>
              <a:t>Churn rate</a:t>
            </a:r>
            <a:endParaRPr lang="en-US" sz="1300" dirty="0"/>
          </a:p>
        </p:txBody>
      </p:sp>
      <p:sp>
        <p:nvSpPr>
          <p:cNvPr id="13" name="Shape 11"/>
          <p:cNvSpPr/>
          <p:nvPr/>
        </p:nvSpPr>
        <p:spPr>
          <a:xfrm>
            <a:off x="9025128" y="1691640"/>
            <a:ext cx="2615184" cy="1691640"/>
          </a:xfrm>
          <a:prstGeom prst="roundRect">
            <a:avLst>
              <a:gd name="adj" fmla="val 4324"/>
            </a:avLst>
          </a:prstGeom>
          <a:solidFill>
            <a:srgbClr val="F4F6FA"/>
          </a:solidFill>
          <a:ln w="12700">
            <a:solidFill>
              <a:srgbClr val="E4E9F2"/>
            </a:solidFill>
            <a:prstDash val="solid"/>
          </a:ln>
        </p:spPr>
      </p:sp>
      <p:sp>
        <p:nvSpPr>
          <p:cNvPr id="14" name="Text 12"/>
          <p:cNvSpPr/>
          <p:nvPr/>
        </p:nvSpPr>
        <p:spPr>
          <a:xfrm>
            <a:off x="9025128" y="1874520"/>
            <a:ext cx="2615184" cy="868680"/>
          </a:xfrm>
          <a:prstGeom prst="rect">
            <a:avLst/>
          </a:prstGeom>
          <a:noFill/>
          <a:ln/>
        </p:spPr>
        <p:txBody>
          <a:bodyPr wrap="square" lIns="0" tIns="0" rIns="0" bIns="0" rtlCol="0" anchor="ctr"/>
          <a:lstStyle/>
          <a:p>
            <a:pPr marL="0" indent="0" algn="ctr">
              <a:buNone/>
            </a:pPr>
            <a:r>
              <a:rPr lang="en-US" sz="4200" b="1" dirty="0">
                <a:solidFill>
                  <a:srgbClr val="DA1E28"/>
                </a:solidFill>
                <a:latin typeface="Arial" pitchFamily="34" charset="0"/>
                <a:ea typeface="Arial" pitchFamily="34" charset="-122"/>
                <a:cs typeface="Arial" pitchFamily="34" charset="-120"/>
              </a:rPr>
              <a:t>$7.8M</a:t>
            </a:r>
            <a:endParaRPr lang="en-US" sz="4200" dirty="0"/>
          </a:p>
        </p:txBody>
      </p:sp>
      <p:sp>
        <p:nvSpPr>
          <p:cNvPr id="15" name="Text 13"/>
          <p:cNvSpPr/>
          <p:nvPr/>
        </p:nvSpPr>
        <p:spPr>
          <a:xfrm>
            <a:off x="9025128" y="2743200"/>
            <a:ext cx="2615184" cy="365760"/>
          </a:xfrm>
          <a:prstGeom prst="rect">
            <a:avLst/>
          </a:prstGeom>
          <a:noFill/>
          <a:ln/>
        </p:spPr>
        <p:txBody>
          <a:bodyPr wrap="square" lIns="0" tIns="0" rIns="0" bIns="0" rtlCol="0" anchor="ctr"/>
          <a:lstStyle/>
          <a:p>
            <a:pPr marL="0" indent="0" algn="ctr">
              <a:buNone/>
            </a:pPr>
            <a:r>
              <a:rPr lang="en-US" sz="1300" dirty="0">
                <a:solidFill>
                  <a:srgbClr val="525252"/>
                </a:solidFill>
                <a:latin typeface="Arial" pitchFamily="34" charset="0"/>
                <a:ea typeface="Arial" pitchFamily="34" charset="-122"/>
                <a:cs typeface="Arial" pitchFamily="34" charset="-120"/>
              </a:rPr>
              <a:t>Lifetime value lost</a:t>
            </a:r>
            <a:endParaRPr lang="en-US" sz="1300" dirty="0"/>
          </a:p>
        </p:txBody>
      </p:sp>
      <p:sp>
        <p:nvSpPr>
          <p:cNvPr id="16" name="Shape 14"/>
          <p:cNvSpPr/>
          <p:nvPr/>
        </p:nvSpPr>
        <p:spPr>
          <a:xfrm>
            <a:off x="548640" y="3794760"/>
            <a:ext cx="11064240" cy="1371600"/>
          </a:xfrm>
          <a:prstGeom prst="roundRect">
            <a:avLst>
              <a:gd name="adj" fmla="val 5333"/>
            </a:avLst>
          </a:prstGeom>
          <a:solidFill>
            <a:srgbClr val="0F2340"/>
          </a:solidFill>
          <a:ln/>
        </p:spPr>
      </p:sp>
      <p:sp>
        <p:nvSpPr>
          <p:cNvPr id="17" name="Text 15"/>
          <p:cNvSpPr/>
          <p:nvPr/>
        </p:nvSpPr>
        <p:spPr>
          <a:xfrm>
            <a:off x="1005840" y="4069080"/>
            <a:ext cx="1014984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Every point of churn we prevent protects roughly $295,000 in customer lifetime value.</a:t>
            </a:r>
            <a:endParaRPr lang="en-US" sz="1900" dirty="0"/>
          </a:p>
        </p:txBody>
      </p:sp>
      <p:sp>
        <p:nvSpPr>
          <p:cNvPr id="18" name="Text 16"/>
          <p:cNvSpPr/>
          <p:nvPr/>
        </p:nvSpPr>
        <p:spPr>
          <a:xfrm>
            <a:off x="1005840" y="4526280"/>
            <a:ext cx="10149840" cy="365760"/>
          </a:xfrm>
          <a:prstGeom prst="rect">
            <a:avLst/>
          </a:prstGeom>
          <a:noFill/>
          <a:ln/>
        </p:spPr>
        <p:txBody>
          <a:bodyPr wrap="square" lIns="0" tIns="0" rIns="0" bIns="0" rtlCol="0" anchor="ctr"/>
          <a:lstStyle/>
          <a:p>
            <a:pPr marL="0" indent="0">
              <a:buNone/>
            </a:pPr>
            <a:r>
              <a:rPr lang="en-US" sz="1400" i="1" dirty="0">
                <a:solidFill>
                  <a:srgbClr val="9AA7BD"/>
                </a:solidFill>
                <a:latin typeface="Arial" pitchFamily="34" charset="0"/>
                <a:ea typeface="Arial" pitchFamily="34" charset="-122"/>
                <a:cs typeface="Arial" pitchFamily="34" charset="-120"/>
              </a:rPr>
              <a:t>That is why this analysis exists: not to describe churn, but to reduce it.</a:t>
            </a:r>
            <a:endParaRPr lang="en-US" sz="1400" dirty="0"/>
          </a:p>
        </p:txBody>
      </p:sp>
      <p:sp>
        <p:nvSpPr>
          <p:cNvPr id="19" name="Text 1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20" name="Text 1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THE DATA</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Five related tables, one customer view</a:t>
            </a:r>
            <a:endParaRPr lang="en-US" sz="3200" dirty="0"/>
          </a:p>
        </p:txBody>
      </p:sp>
      <p:pic>
        <p:nvPicPr>
          <p:cNvPr id="4" name="Image 0" descr="/home/claude/deckimg/IBM_DB_Diagram.png"/>
          <p:cNvPicPr>
            <a:picLocks noChangeAspect="1"/>
          </p:cNvPicPr>
          <p:nvPr/>
        </p:nvPicPr>
        <p:blipFill>
          <a:blip r:embed="rId3"/>
          <a:stretch>
            <a:fillRect/>
          </a:stretch>
        </p:blipFill>
        <p:spPr>
          <a:xfrm>
            <a:off x="548640" y="1463040"/>
            <a:ext cx="7223760" cy="4059936"/>
          </a:xfrm>
          <a:prstGeom prst="rect">
            <a:avLst/>
          </a:prstGeom>
        </p:spPr>
      </p:pic>
      <p:sp>
        <p:nvSpPr>
          <p:cNvPr id="5" name="Shape 2"/>
          <p:cNvSpPr/>
          <p:nvPr/>
        </p:nvSpPr>
        <p:spPr>
          <a:xfrm>
            <a:off x="8092440" y="1755648"/>
            <a:ext cx="146304" cy="146304"/>
          </a:xfrm>
          <a:prstGeom prst="ellipse">
            <a:avLst/>
          </a:prstGeom>
          <a:solidFill>
            <a:srgbClr val="0F62FE"/>
          </a:solidFill>
          <a:ln/>
        </p:spPr>
      </p:sp>
      <p:sp>
        <p:nvSpPr>
          <p:cNvPr id="6" name="Text 3"/>
          <p:cNvSpPr/>
          <p:nvPr/>
        </p:nvSpPr>
        <p:spPr>
          <a:xfrm>
            <a:off x="8412480" y="1691640"/>
            <a:ext cx="3291840" cy="310896"/>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7,043 customers</a:t>
            </a:r>
            <a:endParaRPr lang="en-US" sz="1450" dirty="0"/>
          </a:p>
        </p:txBody>
      </p:sp>
      <p:sp>
        <p:nvSpPr>
          <p:cNvPr id="7" name="Text 4"/>
          <p:cNvSpPr/>
          <p:nvPr/>
        </p:nvSpPr>
        <p:spPr>
          <a:xfrm>
            <a:off x="8412480" y="2002536"/>
            <a:ext cx="3291840" cy="50292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one row per customer in four tables</a:t>
            </a:r>
            <a:endParaRPr lang="en-US" sz="1200" dirty="0"/>
          </a:p>
        </p:txBody>
      </p:sp>
      <p:sp>
        <p:nvSpPr>
          <p:cNvPr id="8" name="Shape 5"/>
          <p:cNvSpPr/>
          <p:nvPr/>
        </p:nvSpPr>
        <p:spPr>
          <a:xfrm>
            <a:off x="8092440" y="2715768"/>
            <a:ext cx="146304" cy="146304"/>
          </a:xfrm>
          <a:prstGeom prst="ellipse">
            <a:avLst/>
          </a:prstGeom>
          <a:solidFill>
            <a:srgbClr val="0F62FE"/>
          </a:solidFill>
          <a:ln/>
        </p:spPr>
      </p:sp>
      <p:sp>
        <p:nvSpPr>
          <p:cNvPr id="9" name="Text 6"/>
          <p:cNvSpPr/>
          <p:nvPr/>
        </p:nvSpPr>
        <p:spPr>
          <a:xfrm>
            <a:off x="8412480" y="2651760"/>
            <a:ext cx="3291840" cy="310896"/>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Linked on Customer ID</a:t>
            </a:r>
            <a:endParaRPr lang="en-US" sz="1450" dirty="0"/>
          </a:p>
        </p:txBody>
      </p:sp>
      <p:sp>
        <p:nvSpPr>
          <p:cNvPr id="10" name="Text 7"/>
          <p:cNvSpPr/>
          <p:nvPr/>
        </p:nvSpPr>
        <p:spPr>
          <a:xfrm>
            <a:off x="8412480" y="2962656"/>
            <a:ext cx="3291840" cy="50292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demographics · location · services · status</a:t>
            </a:r>
            <a:endParaRPr lang="en-US" sz="1200" dirty="0"/>
          </a:p>
        </p:txBody>
      </p:sp>
      <p:sp>
        <p:nvSpPr>
          <p:cNvPr id="11" name="Shape 8"/>
          <p:cNvSpPr/>
          <p:nvPr/>
        </p:nvSpPr>
        <p:spPr>
          <a:xfrm>
            <a:off x="8092440" y="3675888"/>
            <a:ext cx="146304" cy="146304"/>
          </a:xfrm>
          <a:prstGeom prst="ellipse">
            <a:avLst/>
          </a:prstGeom>
          <a:solidFill>
            <a:srgbClr val="0F62FE"/>
          </a:solidFill>
          <a:ln/>
        </p:spPr>
      </p:sp>
      <p:sp>
        <p:nvSpPr>
          <p:cNvPr id="12" name="Text 9"/>
          <p:cNvSpPr/>
          <p:nvPr/>
        </p:nvSpPr>
        <p:spPr>
          <a:xfrm>
            <a:off x="8412480" y="3611880"/>
            <a:ext cx="3291840" cy="310896"/>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Population joins on Zip Code</a:t>
            </a:r>
            <a:endParaRPr lang="en-US" sz="1450" dirty="0"/>
          </a:p>
        </p:txBody>
      </p:sp>
      <p:sp>
        <p:nvSpPr>
          <p:cNvPr id="13" name="Text 10"/>
          <p:cNvSpPr/>
          <p:nvPr/>
        </p:nvSpPr>
        <p:spPr>
          <a:xfrm>
            <a:off x="8412480" y="3922776"/>
            <a:ext cx="3291840" cy="50292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through the location table, not the customer</a:t>
            </a:r>
            <a:endParaRPr lang="en-US" sz="1200" dirty="0"/>
          </a:p>
        </p:txBody>
      </p:sp>
      <p:sp>
        <p:nvSpPr>
          <p:cNvPr id="14" name="Shape 11"/>
          <p:cNvSpPr/>
          <p:nvPr/>
        </p:nvSpPr>
        <p:spPr>
          <a:xfrm>
            <a:off x="8092440" y="4636008"/>
            <a:ext cx="146304" cy="146304"/>
          </a:xfrm>
          <a:prstGeom prst="ellipse">
            <a:avLst/>
          </a:prstGeom>
          <a:solidFill>
            <a:srgbClr val="0F62FE"/>
          </a:solidFill>
          <a:ln/>
        </p:spPr>
      </p:sp>
      <p:sp>
        <p:nvSpPr>
          <p:cNvPr id="15" name="Text 12"/>
          <p:cNvSpPr/>
          <p:nvPr/>
        </p:nvSpPr>
        <p:spPr>
          <a:xfrm>
            <a:off x="8412480" y="4572000"/>
            <a:ext cx="3291840" cy="310896"/>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Loaded into SQL Server</a:t>
            </a:r>
            <a:endParaRPr lang="en-US" sz="1450" dirty="0"/>
          </a:p>
        </p:txBody>
      </p:sp>
      <p:sp>
        <p:nvSpPr>
          <p:cNvPr id="16" name="Text 13"/>
          <p:cNvSpPr/>
          <p:nvPr/>
        </p:nvSpPr>
        <p:spPr>
          <a:xfrm>
            <a:off x="8412480" y="4882896"/>
            <a:ext cx="3291840" cy="50292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database IBM_Telco with keys defined</a:t>
            </a:r>
            <a:endParaRPr lang="en-US" sz="1200" dirty="0"/>
          </a:p>
        </p:txBody>
      </p:sp>
      <p:sp>
        <p:nvSpPr>
          <p:cNvPr id="17" name="Text 14"/>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8" name="Text 15"/>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HOW I WORKED</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From raw tables to a retention story</a:t>
            </a:r>
            <a:endParaRPr lang="en-US" sz="3200" dirty="0"/>
          </a:p>
        </p:txBody>
      </p:sp>
      <p:sp>
        <p:nvSpPr>
          <p:cNvPr id="4" name="Shape 2"/>
          <p:cNvSpPr/>
          <p:nvPr/>
        </p:nvSpPr>
        <p:spPr>
          <a:xfrm>
            <a:off x="548640" y="1737360"/>
            <a:ext cx="3520440" cy="3200400"/>
          </a:xfrm>
          <a:prstGeom prst="roundRect">
            <a:avLst>
              <a:gd name="adj" fmla="val 2286"/>
            </a:avLst>
          </a:prstGeom>
          <a:solidFill>
            <a:srgbClr val="F4F6FA"/>
          </a:solidFill>
          <a:ln w="12700">
            <a:solidFill>
              <a:srgbClr val="E4E9F2"/>
            </a:solidFill>
            <a:prstDash val="solid"/>
          </a:ln>
        </p:spPr>
      </p:sp>
      <p:sp>
        <p:nvSpPr>
          <p:cNvPr id="5" name="Shape 3"/>
          <p:cNvSpPr/>
          <p:nvPr/>
        </p:nvSpPr>
        <p:spPr>
          <a:xfrm>
            <a:off x="868680" y="2057400"/>
            <a:ext cx="384048" cy="384048"/>
          </a:xfrm>
          <a:prstGeom prst="ellipse">
            <a:avLst/>
          </a:prstGeom>
          <a:solidFill>
            <a:srgbClr val="0F62FE"/>
          </a:solidFill>
          <a:ln/>
        </p:spPr>
      </p:sp>
      <p:sp>
        <p:nvSpPr>
          <p:cNvPr id="6" name="Text 4"/>
          <p:cNvSpPr/>
          <p:nvPr/>
        </p:nvSpPr>
        <p:spPr>
          <a:xfrm>
            <a:off x="86868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68680" y="2697480"/>
            <a:ext cx="2926080" cy="384048"/>
          </a:xfrm>
          <a:prstGeom prst="rect">
            <a:avLst/>
          </a:prstGeom>
          <a:noFill/>
          <a:ln/>
        </p:spPr>
        <p:txBody>
          <a:bodyPr wrap="square" lIns="0" tIns="0" rIns="0" bIns="0" rtlCol="0" anchor="ctr"/>
          <a:lstStyle/>
          <a:p>
            <a:pPr marL="0" indent="0">
              <a:buNone/>
            </a:pPr>
            <a:r>
              <a:rPr lang="en-US" sz="2000" b="1" dirty="0">
                <a:solidFill>
                  <a:srgbClr val="0F2340"/>
                </a:solidFill>
                <a:latin typeface="Arial" pitchFamily="34" charset="0"/>
                <a:ea typeface="Arial" pitchFamily="34" charset="-122"/>
                <a:cs typeface="Arial" pitchFamily="34" charset="-120"/>
              </a:rPr>
              <a:t>SQL Server</a:t>
            </a:r>
            <a:endParaRPr lang="en-US" sz="2000" dirty="0"/>
          </a:p>
        </p:txBody>
      </p:sp>
      <p:sp>
        <p:nvSpPr>
          <p:cNvPr id="8" name="Text 6"/>
          <p:cNvSpPr/>
          <p:nvPr/>
        </p:nvSpPr>
        <p:spPr>
          <a:xfrm>
            <a:off x="868680" y="3154680"/>
            <a:ext cx="2926080" cy="1554480"/>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Imported the five tables, defined keys and relationships, then wrote storytelling queries across five themes.</a:t>
            </a:r>
            <a:endParaRPr lang="en-US" sz="1300" dirty="0"/>
          </a:p>
        </p:txBody>
      </p:sp>
      <p:sp>
        <p:nvSpPr>
          <p:cNvPr id="9" name="Shape 7"/>
          <p:cNvSpPr/>
          <p:nvPr/>
        </p:nvSpPr>
        <p:spPr>
          <a:xfrm>
            <a:off x="4343400" y="1737360"/>
            <a:ext cx="3520440" cy="3200400"/>
          </a:xfrm>
          <a:prstGeom prst="roundRect">
            <a:avLst>
              <a:gd name="adj" fmla="val 2286"/>
            </a:avLst>
          </a:prstGeom>
          <a:solidFill>
            <a:srgbClr val="F4F6FA"/>
          </a:solidFill>
          <a:ln w="12700">
            <a:solidFill>
              <a:srgbClr val="E4E9F2"/>
            </a:solidFill>
            <a:prstDash val="solid"/>
          </a:ln>
        </p:spPr>
      </p:sp>
      <p:sp>
        <p:nvSpPr>
          <p:cNvPr id="10" name="Shape 8"/>
          <p:cNvSpPr/>
          <p:nvPr/>
        </p:nvSpPr>
        <p:spPr>
          <a:xfrm>
            <a:off x="4663440" y="2057400"/>
            <a:ext cx="384048" cy="384048"/>
          </a:xfrm>
          <a:prstGeom prst="ellipse">
            <a:avLst/>
          </a:prstGeom>
          <a:solidFill>
            <a:srgbClr val="0F2340"/>
          </a:solidFill>
          <a:ln/>
        </p:spPr>
      </p:sp>
      <p:sp>
        <p:nvSpPr>
          <p:cNvPr id="11" name="Text 9"/>
          <p:cNvSpPr/>
          <p:nvPr/>
        </p:nvSpPr>
        <p:spPr>
          <a:xfrm>
            <a:off x="466344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663440" y="2697480"/>
            <a:ext cx="2926080" cy="384048"/>
          </a:xfrm>
          <a:prstGeom prst="rect">
            <a:avLst/>
          </a:prstGeom>
          <a:noFill/>
          <a:ln/>
        </p:spPr>
        <p:txBody>
          <a:bodyPr wrap="square" lIns="0" tIns="0" rIns="0" bIns="0" rtlCol="0" anchor="ctr"/>
          <a:lstStyle/>
          <a:p>
            <a:pPr marL="0" indent="0">
              <a:buNone/>
            </a:pPr>
            <a:r>
              <a:rPr lang="en-US" sz="2000" b="1" dirty="0">
                <a:solidFill>
                  <a:srgbClr val="0F2340"/>
                </a:solidFill>
                <a:latin typeface="Arial" pitchFamily="34" charset="0"/>
                <a:ea typeface="Arial" pitchFamily="34" charset="-122"/>
                <a:cs typeface="Arial" pitchFamily="34" charset="-120"/>
              </a:rPr>
              <a:t>Python</a:t>
            </a:r>
            <a:endParaRPr lang="en-US" sz="2000" dirty="0"/>
          </a:p>
        </p:txBody>
      </p:sp>
      <p:sp>
        <p:nvSpPr>
          <p:cNvPr id="13" name="Text 11"/>
          <p:cNvSpPr/>
          <p:nvPr/>
        </p:nvSpPr>
        <p:spPr>
          <a:xfrm>
            <a:off x="4663440" y="3154680"/>
            <a:ext cx="2926080" cy="1554480"/>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Merged, cleaned and preprocessed: missing values, outliers, skewness, feature engineering, encoding and scaling.</a:t>
            </a:r>
            <a:endParaRPr lang="en-US" sz="1300" dirty="0"/>
          </a:p>
        </p:txBody>
      </p:sp>
      <p:sp>
        <p:nvSpPr>
          <p:cNvPr id="14" name="Shape 12"/>
          <p:cNvSpPr/>
          <p:nvPr/>
        </p:nvSpPr>
        <p:spPr>
          <a:xfrm>
            <a:off x="8138160" y="1737360"/>
            <a:ext cx="3520440" cy="3200400"/>
          </a:xfrm>
          <a:prstGeom prst="roundRect">
            <a:avLst>
              <a:gd name="adj" fmla="val 2286"/>
            </a:avLst>
          </a:prstGeom>
          <a:solidFill>
            <a:srgbClr val="F4F6FA"/>
          </a:solidFill>
          <a:ln w="12700">
            <a:solidFill>
              <a:srgbClr val="E4E9F2"/>
            </a:solidFill>
            <a:prstDash val="solid"/>
          </a:ln>
        </p:spPr>
      </p:sp>
      <p:sp>
        <p:nvSpPr>
          <p:cNvPr id="15" name="Shape 13"/>
          <p:cNvSpPr/>
          <p:nvPr/>
        </p:nvSpPr>
        <p:spPr>
          <a:xfrm>
            <a:off x="8458200" y="2057400"/>
            <a:ext cx="384048" cy="384048"/>
          </a:xfrm>
          <a:prstGeom prst="ellipse">
            <a:avLst/>
          </a:prstGeom>
          <a:solidFill>
            <a:srgbClr val="1AA99B"/>
          </a:solidFill>
          <a:ln/>
        </p:spPr>
      </p:sp>
      <p:sp>
        <p:nvSpPr>
          <p:cNvPr id="16" name="Text 14"/>
          <p:cNvSpPr/>
          <p:nvPr/>
        </p:nvSpPr>
        <p:spPr>
          <a:xfrm>
            <a:off x="845820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8458200" y="2697480"/>
            <a:ext cx="2926080" cy="384048"/>
          </a:xfrm>
          <a:prstGeom prst="rect">
            <a:avLst/>
          </a:prstGeom>
          <a:noFill/>
          <a:ln/>
        </p:spPr>
        <p:txBody>
          <a:bodyPr wrap="square" lIns="0" tIns="0" rIns="0" bIns="0" rtlCol="0" anchor="ctr"/>
          <a:lstStyle/>
          <a:p>
            <a:pPr marL="0" indent="0">
              <a:buNone/>
            </a:pPr>
            <a:r>
              <a:rPr lang="en-US" sz="2000" b="1" dirty="0">
                <a:solidFill>
                  <a:srgbClr val="0F2340"/>
                </a:solidFill>
                <a:latin typeface="Arial" pitchFamily="34" charset="0"/>
                <a:ea typeface="Arial" pitchFamily="34" charset="-122"/>
                <a:cs typeface="Arial" pitchFamily="34" charset="-120"/>
              </a:rPr>
              <a:t>Tableau</a:t>
            </a:r>
            <a:endParaRPr lang="en-US" sz="2000" dirty="0"/>
          </a:p>
        </p:txBody>
      </p:sp>
      <p:sp>
        <p:nvSpPr>
          <p:cNvPr id="18" name="Text 16"/>
          <p:cNvSpPr/>
          <p:nvPr/>
        </p:nvSpPr>
        <p:spPr>
          <a:xfrm>
            <a:off x="8458200" y="3154680"/>
            <a:ext cx="2926080" cy="1554480"/>
          </a:xfrm>
          <a:prstGeom prst="rect">
            <a:avLst/>
          </a:prstGeom>
          <a:noFill/>
          <a:ln/>
        </p:spPr>
        <p:txBody>
          <a:bodyPr wrap="square" lIns="0" tIns="0" rIns="0" bIns="0" rtlCol="0" anchor="ctr"/>
          <a:lstStyle/>
          <a:p>
            <a:pPr marL="0" indent="0">
              <a:buNone/>
            </a:pPr>
            <a:r>
              <a:rPr lang="en-US" sz="1300" dirty="0">
                <a:solidFill>
                  <a:srgbClr val="525252"/>
                </a:solidFill>
                <a:latin typeface="Arial" pitchFamily="34" charset="0"/>
                <a:ea typeface="Arial" pitchFamily="34" charset="-122"/>
                <a:cs typeface="Arial" pitchFamily="34" charset="-120"/>
              </a:rPr>
              <a:t>Built four connected dashboards and a Story that walks from the problem to the recommendations.</a:t>
            </a:r>
            <a:endParaRPr lang="en-US" sz="1300" dirty="0"/>
          </a:p>
        </p:txBody>
      </p:sp>
      <p:sp>
        <p:nvSpPr>
          <p:cNvPr id="19" name="Text 17"/>
          <p:cNvSpPr/>
          <p:nvPr/>
        </p:nvSpPr>
        <p:spPr>
          <a:xfrm>
            <a:off x="548640" y="5212080"/>
            <a:ext cx="11064240" cy="365760"/>
          </a:xfrm>
          <a:prstGeom prst="rect">
            <a:avLst/>
          </a:prstGeom>
          <a:noFill/>
          <a:ln/>
        </p:spPr>
        <p:txBody>
          <a:bodyPr wrap="square" lIns="0" tIns="0" rIns="0" bIns="0" rtlCol="0" anchor="ctr"/>
          <a:lstStyle/>
          <a:p>
            <a:pPr marL="0" indent="0" algn="ctr">
              <a:buNone/>
            </a:pPr>
            <a:r>
              <a:rPr lang="en-US" sz="1400" i="1" dirty="0">
                <a:solidFill>
                  <a:srgbClr val="8D8D8D"/>
                </a:solidFill>
                <a:latin typeface="Arial" pitchFamily="34" charset="0"/>
                <a:ea typeface="Arial" pitchFamily="34" charset="-122"/>
                <a:cs typeface="Arial" pitchFamily="34" charset="-120"/>
              </a:rPr>
              <a:t>13 worksheets  ·  4 dashboards  ·  1 story</a:t>
            </a:r>
            <a:endParaRPr lang="en-US" sz="1400" dirty="0"/>
          </a:p>
        </p:txBody>
      </p:sp>
      <p:sp>
        <p:nvSpPr>
          <p:cNvPr id="20" name="Text 18"/>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21" name="Text 19"/>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THE PYTHON PIPELINE</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Eleven steps, four stages</a:t>
            </a:r>
            <a:endParaRPr lang="en-US" sz="3200" dirty="0"/>
          </a:p>
        </p:txBody>
      </p:sp>
      <p:sp>
        <p:nvSpPr>
          <p:cNvPr id="4" name="Shape 2"/>
          <p:cNvSpPr/>
          <p:nvPr/>
        </p:nvSpPr>
        <p:spPr>
          <a:xfrm>
            <a:off x="548640" y="1645920"/>
            <a:ext cx="2615184" cy="3566160"/>
          </a:xfrm>
          <a:prstGeom prst="roundRect">
            <a:avLst>
              <a:gd name="adj" fmla="val 2797"/>
            </a:avLst>
          </a:prstGeom>
          <a:solidFill>
            <a:srgbClr val="F4F6FA"/>
          </a:solidFill>
          <a:ln w="12700">
            <a:solidFill>
              <a:srgbClr val="E4E9F2"/>
            </a:solidFill>
            <a:prstDash val="solid"/>
          </a:ln>
        </p:spPr>
      </p:sp>
      <p:sp>
        <p:nvSpPr>
          <p:cNvPr id="5" name="Shape 3"/>
          <p:cNvSpPr/>
          <p:nvPr/>
        </p:nvSpPr>
        <p:spPr>
          <a:xfrm>
            <a:off x="548640" y="1645920"/>
            <a:ext cx="2615184" cy="475488"/>
          </a:xfrm>
          <a:prstGeom prst="roundRect">
            <a:avLst>
              <a:gd name="adj" fmla="val 15385"/>
            </a:avLst>
          </a:prstGeom>
          <a:solidFill>
            <a:srgbClr val="0F62FE"/>
          </a:solidFill>
          <a:ln/>
        </p:spPr>
      </p:sp>
      <p:sp>
        <p:nvSpPr>
          <p:cNvPr id="6" name="Text 4"/>
          <p:cNvSpPr/>
          <p:nvPr/>
        </p:nvSpPr>
        <p:spPr>
          <a:xfrm>
            <a:off x="548640" y="1645920"/>
            <a:ext cx="261518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  Prepare</a:t>
            </a:r>
            <a:endParaRPr lang="en-US" sz="1400" dirty="0"/>
          </a:p>
        </p:txBody>
      </p:sp>
      <p:sp>
        <p:nvSpPr>
          <p:cNvPr id="7" name="Shape 5"/>
          <p:cNvSpPr/>
          <p:nvPr/>
        </p:nvSpPr>
        <p:spPr>
          <a:xfrm>
            <a:off x="804672" y="2414016"/>
            <a:ext cx="118872" cy="118872"/>
          </a:xfrm>
          <a:prstGeom prst="ellipse">
            <a:avLst/>
          </a:prstGeom>
          <a:solidFill>
            <a:srgbClr val="0F62FE"/>
          </a:solidFill>
          <a:ln/>
        </p:spPr>
      </p:sp>
      <p:sp>
        <p:nvSpPr>
          <p:cNvPr id="8" name="Text 6"/>
          <p:cNvSpPr/>
          <p:nvPr/>
        </p:nvSpPr>
        <p:spPr>
          <a:xfrm>
            <a:off x="1051560" y="2331720"/>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Load 5 tables</a:t>
            </a:r>
            <a:endParaRPr lang="en-US" sz="1200" dirty="0"/>
          </a:p>
        </p:txBody>
      </p:sp>
      <p:sp>
        <p:nvSpPr>
          <p:cNvPr id="9" name="Shape 7"/>
          <p:cNvSpPr/>
          <p:nvPr/>
        </p:nvSpPr>
        <p:spPr>
          <a:xfrm>
            <a:off x="804672" y="2980944"/>
            <a:ext cx="118872" cy="118872"/>
          </a:xfrm>
          <a:prstGeom prst="ellipse">
            <a:avLst/>
          </a:prstGeom>
          <a:solidFill>
            <a:srgbClr val="0F62FE"/>
          </a:solidFill>
          <a:ln/>
        </p:spPr>
      </p:sp>
      <p:sp>
        <p:nvSpPr>
          <p:cNvPr id="10" name="Text 8"/>
          <p:cNvSpPr/>
          <p:nvPr/>
        </p:nvSpPr>
        <p:spPr>
          <a:xfrm>
            <a:off x="1051560" y="2898648"/>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Explore &amp; profile</a:t>
            </a:r>
            <a:endParaRPr lang="en-US" sz="1200" dirty="0"/>
          </a:p>
        </p:txBody>
      </p:sp>
      <p:sp>
        <p:nvSpPr>
          <p:cNvPr id="11" name="Shape 9"/>
          <p:cNvSpPr/>
          <p:nvPr/>
        </p:nvSpPr>
        <p:spPr>
          <a:xfrm>
            <a:off x="804672" y="3547872"/>
            <a:ext cx="118872" cy="118872"/>
          </a:xfrm>
          <a:prstGeom prst="ellipse">
            <a:avLst/>
          </a:prstGeom>
          <a:solidFill>
            <a:srgbClr val="0F62FE"/>
          </a:solidFill>
          <a:ln/>
        </p:spPr>
      </p:sp>
      <p:sp>
        <p:nvSpPr>
          <p:cNvPr id="12" name="Text 10"/>
          <p:cNvSpPr/>
          <p:nvPr/>
        </p:nvSpPr>
        <p:spPr>
          <a:xfrm>
            <a:off x="1051560" y="3465576"/>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Merge into one table</a:t>
            </a:r>
            <a:endParaRPr lang="en-US" sz="1200" dirty="0"/>
          </a:p>
        </p:txBody>
      </p:sp>
      <p:sp>
        <p:nvSpPr>
          <p:cNvPr id="13" name="Shape 11"/>
          <p:cNvSpPr/>
          <p:nvPr/>
        </p:nvSpPr>
        <p:spPr>
          <a:xfrm>
            <a:off x="3374136" y="1645920"/>
            <a:ext cx="2615184" cy="3566160"/>
          </a:xfrm>
          <a:prstGeom prst="roundRect">
            <a:avLst>
              <a:gd name="adj" fmla="val 2797"/>
            </a:avLst>
          </a:prstGeom>
          <a:solidFill>
            <a:srgbClr val="F4F6FA"/>
          </a:solidFill>
          <a:ln w="12700">
            <a:solidFill>
              <a:srgbClr val="E4E9F2"/>
            </a:solidFill>
            <a:prstDash val="solid"/>
          </a:ln>
        </p:spPr>
      </p:sp>
      <p:sp>
        <p:nvSpPr>
          <p:cNvPr id="14" name="Shape 12"/>
          <p:cNvSpPr/>
          <p:nvPr/>
        </p:nvSpPr>
        <p:spPr>
          <a:xfrm>
            <a:off x="3374136" y="1645920"/>
            <a:ext cx="2615184" cy="475488"/>
          </a:xfrm>
          <a:prstGeom prst="roundRect">
            <a:avLst>
              <a:gd name="adj" fmla="val 15385"/>
            </a:avLst>
          </a:prstGeom>
          <a:solidFill>
            <a:srgbClr val="DA1E28"/>
          </a:solidFill>
          <a:ln/>
        </p:spPr>
      </p:sp>
      <p:sp>
        <p:nvSpPr>
          <p:cNvPr id="15" name="Text 13"/>
          <p:cNvSpPr/>
          <p:nvPr/>
        </p:nvSpPr>
        <p:spPr>
          <a:xfrm>
            <a:off x="3374136" y="1645920"/>
            <a:ext cx="261518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  Clean</a:t>
            </a:r>
            <a:endParaRPr lang="en-US" sz="1400" dirty="0"/>
          </a:p>
        </p:txBody>
      </p:sp>
      <p:sp>
        <p:nvSpPr>
          <p:cNvPr id="16" name="Shape 14"/>
          <p:cNvSpPr/>
          <p:nvPr/>
        </p:nvSpPr>
        <p:spPr>
          <a:xfrm>
            <a:off x="3630168" y="2414016"/>
            <a:ext cx="118872" cy="118872"/>
          </a:xfrm>
          <a:prstGeom prst="ellipse">
            <a:avLst/>
          </a:prstGeom>
          <a:solidFill>
            <a:srgbClr val="DA1E28"/>
          </a:solidFill>
          <a:ln/>
        </p:spPr>
      </p:sp>
      <p:sp>
        <p:nvSpPr>
          <p:cNvPr id="17" name="Text 15"/>
          <p:cNvSpPr/>
          <p:nvPr/>
        </p:nvSpPr>
        <p:spPr>
          <a:xfrm>
            <a:off x="3877056" y="2331720"/>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Fill missing values</a:t>
            </a:r>
            <a:endParaRPr lang="en-US" sz="1200" dirty="0"/>
          </a:p>
        </p:txBody>
      </p:sp>
      <p:sp>
        <p:nvSpPr>
          <p:cNvPr id="18" name="Shape 16"/>
          <p:cNvSpPr/>
          <p:nvPr/>
        </p:nvSpPr>
        <p:spPr>
          <a:xfrm>
            <a:off x="3630168" y="2980944"/>
            <a:ext cx="118872" cy="118872"/>
          </a:xfrm>
          <a:prstGeom prst="ellipse">
            <a:avLst/>
          </a:prstGeom>
          <a:solidFill>
            <a:srgbClr val="DA1E28"/>
          </a:solidFill>
          <a:ln/>
        </p:spPr>
      </p:sp>
      <p:sp>
        <p:nvSpPr>
          <p:cNvPr id="19" name="Text 17"/>
          <p:cNvSpPr/>
          <p:nvPr/>
        </p:nvSpPr>
        <p:spPr>
          <a:xfrm>
            <a:off x="3877056" y="2898648"/>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Cap outliers (IQR)</a:t>
            </a:r>
            <a:endParaRPr lang="en-US" sz="1200" dirty="0"/>
          </a:p>
        </p:txBody>
      </p:sp>
      <p:sp>
        <p:nvSpPr>
          <p:cNvPr id="20" name="Shape 18"/>
          <p:cNvSpPr/>
          <p:nvPr/>
        </p:nvSpPr>
        <p:spPr>
          <a:xfrm>
            <a:off x="3630168" y="3547872"/>
            <a:ext cx="118872" cy="118872"/>
          </a:xfrm>
          <a:prstGeom prst="ellipse">
            <a:avLst/>
          </a:prstGeom>
          <a:solidFill>
            <a:srgbClr val="DA1E28"/>
          </a:solidFill>
          <a:ln/>
        </p:spPr>
      </p:sp>
      <p:sp>
        <p:nvSpPr>
          <p:cNvPr id="21" name="Text 19"/>
          <p:cNvSpPr/>
          <p:nvPr/>
        </p:nvSpPr>
        <p:spPr>
          <a:xfrm>
            <a:off x="3877056" y="3465576"/>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Measure skewness</a:t>
            </a:r>
            <a:endParaRPr lang="en-US" sz="1200" dirty="0"/>
          </a:p>
        </p:txBody>
      </p:sp>
      <p:sp>
        <p:nvSpPr>
          <p:cNvPr id="22" name="Shape 20"/>
          <p:cNvSpPr/>
          <p:nvPr/>
        </p:nvSpPr>
        <p:spPr>
          <a:xfrm>
            <a:off x="6199632" y="1645920"/>
            <a:ext cx="2615184" cy="3566160"/>
          </a:xfrm>
          <a:prstGeom prst="roundRect">
            <a:avLst>
              <a:gd name="adj" fmla="val 2797"/>
            </a:avLst>
          </a:prstGeom>
          <a:solidFill>
            <a:srgbClr val="F4F6FA"/>
          </a:solidFill>
          <a:ln w="12700">
            <a:solidFill>
              <a:srgbClr val="E4E9F2"/>
            </a:solidFill>
            <a:prstDash val="solid"/>
          </a:ln>
        </p:spPr>
      </p:sp>
      <p:sp>
        <p:nvSpPr>
          <p:cNvPr id="23" name="Shape 21"/>
          <p:cNvSpPr/>
          <p:nvPr/>
        </p:nvSpPr>
        <p:spPr>
          <a:xfrm>
            <a:off x="6199632" y="1645920"/>
            <a:ext cx="2615184" cy="475488"/>
          </a:xfrm>
          <a:prstGeom prst="roundRect">
            <a:avLst>
              <a:gd name="adj" fmla="val 15385"/>
            </a:avLst>
          </a:prstGeom>
          <a:solidFill>
            <a:srgbClr val="1AA99B"/>
          </a:solidFill>
          <a:ln/>
        </p:spPr>
      </p:sp>
      <p:sp>
        <p:nvSpPr>
          <p:cNvPr id="24" name="Text 22"/>
          <p:cNvSpPr/>
          <p:nvPr/>
        </p:nvSpPr>
        <p:spPr>
          <a:xfrm>
            <a:off x="6199632" y="1645920"/>
            <a:ext cx="261518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  Engineer</a:t>
            </a:r>
            <a:endParaRPr lang="en-US" sz="1400" dirty="0"/>
          </a:p>
        </p:txBody>
      </p:sp>
      <p:sp>
        <p:nvSpPr>
          <p:cNvPr id="25" name="Shape 23"/>
          <p:cNvSpPr/>
          <p:nvPr/>
        </p:nvSpPr>
        <p:spPr>
          <a:xfrm>
            <a:off x="6455664" y="2414016"/>
            <a:ext cx="118872" cy="118872"/>
          </a:xfrm>
          <a:prstGeom prst="ellipse">
            <a:avLst/>
          </a:prstGeom>
          <a:solidFill>
            <a:srgbClr val="1AA99B"/>
          </a:solidFill>
          <a:ln/>
        </p:spPr>
      </p:sp>
      <p:sp>
        <p:nvSpPr>
          <p:cNvPr id="26" name="Text 24"/>
          <p:cNvSpPr/>
          <p:nvPr/>
        </p:nvSpPr>
        <p:spPr>
          <a:xfrm>
            <a:off x="6702552" y="2331720"/>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Build 4 new features</a:t>
            </a:r>
            <a:endParaRPr lang="en-US" sz="1200" dirty="0"/>
          </a:p>
        </p:txBody>
      </p:sp>
      <p:sp>
        <p:nvSpPr>
          <p:cNvPr id="27" name="Shape 25"/>
          <p:cNvSpPr/>
          <p:nvPr/>
        </p:nvSpPr>
        <p:spPr>
          <a:xfrm>
            <a:off x="6455664" y="2980944"/>
            <a:ext cx="118872" cy="118872"/>
          </a:xfrm>
          <a:prstGeom prst="ellipse">
            <a:avLst/>
          </a:prstGeom>
          <a:solidFill>
            <a:srgbClr val="1AA99B"/>
          </a:solidFill>
          <a:ln/>
        </p:spPr>
      </p:sp>
      <p:sp>
        <p:nvSpPr>
          <p:cNvPr id="28" name="Text 26"/>
          <p:cNvSpPr/>
          <p:nvPr/>
        </p:nvSpPr>
        <p:spPr>
          <a:xfrm>
            <a:off x="6702552" y="2898648"/>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Check correlation</a:t>
            </a:r>
            <a:endParaRPr lang="en-US" sz="1200" dirty="0"/>
          </a:p>
        </p:txBody>
      </p:sp>
      <p:sp>
        <p:nvSpPr>
          <p:cNvPr id="29" name="Shape 27"/>
          <p:cNvSpPr/>
          <p:nvPr/>
        </p:nvSpPr>
        <p:spPr>
          <a:xfrm>
            <a:off x="9025128" y="1645920"/>
            <a:ext cx="2615184" cy="3566160"/>
          </a:xfrm>
          <a:prstGeom prst="roundRect">
            <a:avLst>
              <a:gd name="adj" fmla="val 2797"/>
            </a:avLst>
          </a:prstGeom>
          <a:solidFill>
            <a:srgbClr val="F4F6FA"/>
          </a:solidFill>
          <a:ln w="12700">
            <a:solidFill>
              <a:srgbClr val="E4E9F2"/>
            </a:solidFill>
            <a:prstDash val="solid"/>
          </a:ln>
        </p:spPr>
      </p:sp>
      <p:sp>
        <p:nvSpPr>
          <p:cNvPr id="30" name="Shape 28"/>
          <p:cNvSpPr/>
          <p:nvPr/>
        </p:nvSpPr>
        <p:spPr>
          <a:xfrm>
            <a:off x="9025128" y="1645920"/>
            <a:ext cx="2615184" cy="475488"/>
          </a:xfrm>
          <a:prstGeom prst="roundRect">
            <a:avLst>
              <a:gd name="adj" fmla="val 15385"/>
            </a:avLst>
          </a:prstGeom>
          <a:solidFill>
            <a:srgbClr val="6F42C1"/>
          </a:solidFill>
          <a:ln/>
        </p:spPr>
      </p:sp>
      <p:sp>
        <p:nvSpPr>
          <p:cNvPr id="31" name="Text 29"/>
          <p:cNvSpPr/>
          <p:nvPr/>
        </p:nvSpPr>
        <p:spPr>
          <a:xfrm>
            <a:off x="9025128" y="1645920"/>
            <a:ext cx="261518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  Model-ready</a:t>
            </a:r>
            <a:endParaRPr lang="en-US" sz="1400" dirty="0"/>
          </a:p>
        </p:txBody>
      </p:sp>
      <p:sp>
        <p:nvSpPr>
          <p:cNvPr id="32" name="Shape 30"/>
          <p:cNvSpPr/>
          <p:nvPr/>
        </p:nvSpPr>
        <p:spPr>
          <a:xfrm>
            <a:off x="9281160" y="2414016"/>
            <a:ext cx="118872" cy="118872"/>
          </a:xfrm>
          <a:prstGeom prst="ellipse">
            <a:avLst/>
          </a:prstGeom>
          <a:solidFill>
            <a:srgbClr val="6F42C1"/>
          </a:solidFill>
          <a:ln/>
        </p:spPr>
      </p:sp>
      <p:sp>
        <p:nvSpPr>
          <p:cNvPr id="33" name="Text 31"/>
          <p:cNvSpPr/>
          <p:nvPr/>
        </p:nvSpPr>
        <p:spPr>
          <a:xfrm>
            <a:off x="9528048" y="2331720"/>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Encode categories</a:t>
            </a:r>
            <a:endParaRPr lang="en-US" sz="1200" dirty="0"/>
          </a:p>
        </p:txBody>
      </p:sp>
      <p:sp>
        <p:nvSpPr>
          <p:cNvPr id="34" name="Shape 32"/>
          <p:cNvSpPr/>
          <p:nvPr/>
        </p:nvSpPr>
        <p:spPr>
          <a:xfrm>
            <a:off x="9281160" y="2980944"/>
            <a:ext cx="118872" cy="118872"/>
          </a:xfrm>
          <a:prstGeom prst="ellipse">
            <a:avLst/>
          </a:prstGeom>
          <a:solidFill>
            <a:srgbClr val="6F42C1"/>
          </a:solidFill>
          <a:ln/>
        </p:spPr>
      </p:sp>
      <p:sp>
        <p:nvSpPr>
          <p:cNvPr id="35" name="Text 33"/>
          <p:cNvSpPr/>
          <p:nvPr/>
        </p:nvSpPr>
        <p:spPr>
          <a:xfrm>
            <a:off x="9528048" y="2898648"/>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Drop near-constant</a:t>
            </a:r>
            <a:endParaRPr lang="en-US" sz="1200" dirty="0"/>
          </a:p>
        </p:txBody>
      </p:sp>
      <p:sp>
        <p:nvSpPr>
          <p:cNvPr id="36" name="Shape 34"/>
          <p:cNvSpPr/>
          <p:nvPr/>
        </p:nvSpPr>
        <p:spPr>
          <a:xfrm>
            <a:off x="9281160" y="3547872"/>
            <a:ext cx="118872" cy="118872"/>
          </a:xfrm>
          <a:prstGeom prst="ellipse">
            <a:avLst/>
          </a:prstGeom>
          <a:solidFill>
            <a:srgbClr val="6F42C1"/>
          </a:solidFill>
          <a:ln/>
        </p:spPr>
      </p:sp>
      <p:sp>
        <p:nvSpPr>
          <p:cNvPr id="37" name="Text 35"/>
          <p:cNvSpPr/>
          <p:nvPr/>
        </p:nvSpPr>
        <p:spPr>
          <a:xfrm>
            <a:off x="9528048" y="3465576"/>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Split 80/20</a:t>
            </a:r>
            <a:endParaRPr lang="en-US" sz="1200" dirty="0"/>
          </a:p>
        </p:txBody>
      </p:sp>
      <p:sp>
        <p:nvSpPr>
          <p:cNvPr id="38" name="Shape 36"/>
          <p:cNvSpPr/>
          <p:nvPr/>
        </p:nvSpPr>
        <p:spPr>
          <a:xfrm>
            <a:off x="9281160" y="4114800"/>
            <a:ext cx="118872" cy="118872"/>
          </a:xfrm>
          <a:prstGeom prst="ellipse">
            <a:avLst/>
          </a:prstGeom>
          <a:solidFill>
            <a:srgbClr val="6F42C1"/>
          </a:solidFill>
          <a:ln/>
        </p:spPr>
      </p:sp>
      <p:sp>
        <p:nvSpPr>
          <p:cNvPr id="39" name="Text 37"/>
          <p:cNvSpPr/>
          <p:nvPr/>
        </p:nvSpPr>
        <p:spPr>
          <a:xfrm>
            <a:off x="9528048" y="4032504"/>
            <a:ext cx="2011680" cy="457200"/>
          </a:xfrm>
          <a:prstGeom prst="rect">
            <a:avLst/>
          </a:prstGeom>
          <a:noFill/>
          <a:ln/>
        </p:spPr>
        <p:txBody>
          <a:bodyPr wrap="square" lIns="0" tIns="0" rIns="0" bIns="0" rtlCol="0" anchor="t"/>
          <a:lstStyle/>
          <a:p>
            <a:pPr marL="0" indent="0">
              <a:buNone/>
            </a:pPr>
            <a:r>
              <a:rPr lang="en-US" sz="1200" dirty="0">
                <a:solidFill>
                  <a:srgbClr val="525252"/>
                </a:solidFill>
                <a:latin typeface="Arial" pitchFamily="34" charset="0"/>
                <a:ea typeface="Arial" pitchFamily="34" charset="-122"/>
                <a:cs typeface="Arial" pitchFamily="34" charset="-120"/>
              </a:rPr>
              <a:t>Normalize (MinMax)</a:t>
            </a:r>
            <a:endParaRPr lang="en-US" sz="1200" dirty="0"/>
          </a:p>
        </p:txBody>
      </p:sp>
      <p:sp>
        <p:nvSpPr>
          <p:cNvPr id="40" name="Text 38"/>
          <p:cNvSpPr/>
          <p:nvPr/>
        </p:nvSpPr>
        <p:spPr>
          <a:xfrm>
            <a:off x="548640" y="5440680"/>
            <a:ext cx="11064240" cy="365760"/>
          </a:xfrm>
          <a:prstGeom prst="rect">
            <a:avLst/>
          </a:prstGeom>
          <a:noFill/>
          <a:ln/>
        </p:spPr>
        <p:txBody>
          <a:bodyPr wrap="square" lIns="0" tIns="0" rIns="0" bIns="0" rtlCol="0" anchor="ctr"/>
          <a:lstStyle/>
          <a:p>
            <a:pPr marL="0" indent="0" algn="ctr">
              <a:buNone/>
            </a:pPr>
            <a:r>
              <a:rPr lang="en-US" sz="1250" i="1" dirty="0">
                <a:solidFill>
                  <a:srgbClr val="8D8D8D"/>
                </a:solidFill>
                <a:latin typeface="Arial" pitchFamily="34" charset="0"/>
                <a:ea typeface="Arial" pitchFamily="34" charset="-122"/>
                <a:cs typeface="Arial" pitchFamily="34" charset="-120"/>
              </a:rPr>
              <a:t>Output: a clean analytical table for SQL and Tableau, plus a fully model-ready dataset reserved for a separate machine-learning notebook.</a:t>
            </a:r>
            <a:endParaRPr lang="en-US" sz="1250" dirty="0"/>
          </a:p>
        </p:txBody>
      </p:sp>
      <p:sp>
        <p:nvSpPr>
          <p:cNvPr id="41" name="Text 39"/>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42" name="Text 40"/>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INSIDE THE CODE</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Three decisions that changed the result</a:t>
            </a:r>
            <a:endParaRPr lang="en-US" sz="3200" dirty="0"/>
          </a:p>
        </p:txBody>
      </p:sp>
      <p:sp>
        <p:nvSpPr>
          <p:cNvPr id="4" name="Text 2"/>
          <p:cNvSpPr/>
          <p:nvPr/>
        </p:nvSpPr>
        <p:spPr>
          <a:xfrm>
            <a:off x="548640" y="1554480"/>
            <a:ext cx="4937760" cy="292608"/>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1.  Guard against zeroing a column</a:t>
            </a:r>
            <a:endParaRPr lang="en-US" sz="1450" dirty="0"/>
          </a:p>
        </p:txBody>
      </p:sp>
      <p:sp>
        <p:nvSpPr>
          <p:cNvPr id="5" name="Shape 3"/>
          <p:cNvSpPr/>
          <p:nvPr/>
        </p:nvSpPr>
        <p:spPr>
          <a:xfrm>
            <a:off x="548640" y="1865376"/>
            <a:ext cx="5577840" cy="1170432"/>
          </a:xfrm>
          <a:prstGeom prst="roundRect">
            <a:avLst>
              <a:gd name="adj" fmla="val 4688"/>
            </a:avLst>
          </a:prstGeom>
          <a:solidFill>
            <a:srgbClr val="0B1B2E"/>
          </a:solidFill>
          <a:ln/>
        </p:spPr>
      </p:sp>
      <p:sp>
        <p:nvSpPr>
          <p:cNvPr id="6" name="Text 4"/>
          <p:cNvSpPr/>
          <p:nvPr/>
        </p:nvSpPr>
        <p:spPr>
          <a:xfrm>
            <a:off x="713232" y="1993392"/>
            <a:ext cx="5248656" cy="914400"/>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for col in outlier_cols:</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iqr = q3 - q1</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if iqr == 0:</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continue   # skip</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df[col] = df[col].clip(upper=q3+1.5*iqr)</a:t>
            </a:r>
            <a:endParaRPr lang="en-US" sz="1000" dirty="0"/>
          </a:p>
        </p:txBody>
      </p:sp>
      <p:sp>
        <p:nvSpPr>
          <p:cNvPr id="7" name="Text 5"/>
          <p:cNvSpPr/>
          <p:nvPr/>
        </p:nvSpPr>
        <p:spPr>
          <a:xfrm>
            <a:off x="6400800" y="1645920"/>
            <a:ext cx="5212080" cy="1325880"/>
          </a:xfrm>
          <a:prstGeom prst="rect">
            <a:avLst/>
          </a:prstGeom>
          <a:noFill/>
          <a:ln/>
        </p:spPr>
        <p:txBody>
          <a:bodyPr wrap="square" lIns="0" tIns="0" rIns="0" bIns="0" rtlCol="0" anchor="t"/>
          <a:lstStyle/>
          <a:p>
            <a:pPr marL="0" indent="0">
              <a:buNone/>
            </a:pPr>
            <a:r>
              <a:rPr lang="en-US" sz="1250" dirty="0">
                <a:solidFill>
                  <a:srgbClr val="525252"/>
                </a:solidFill>
                <a:latin typeface="Arial" pitchFamily="34" charset="0"/>
                <a:ea typeface="Arial" pitchFamily="34" charset="-122"/>
                <a:cs typeface="Arial" pitchFamily="34" charset="-120"/>
              </a:rPr>
              <a:t>Total Refunds is mostly zeros, so Q1 = Q3 = 0. Without this guard, IQR capping would flatten the whole column to a single value.</a:t>
            </a:r>
            <a:endParaRPr lang="en-US" sz="1250" dirty="0"/>
          </a:p>
        </p:txBody>
      </p:sp>
      <p:sp>
        <p:nvSpPr>
          <p:cNvPr id="8" name="Text 6"/>
          <p:cNvSpPr/>
          <p:nvPr/>
        </p:nvSpPr>
        <p:spPr>
          <a:xfrm>
            <a:off x="548640" y="3090672"/>
            <a:ext cx="4937760" cy="292608"/>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2.  Fill missing values with meaning</a:t>
            </a:r>
            <a:endParaRPr lang="en-US" sz="1450" dirty="0"/>
          </a:p>
        </p:txBody>
      </p:sp>
      <p:sp>
        <p:nvSpPr>
          <p:cNvPr id="9" name="Shape 7"/>
          <p:cNvSpPr/>
          <p:nvPr/>
        </p:nvSpPr>
        <p:spPr>
          <a:xfrm>
            <a:off x="548640" y="3401568"/>
            <a:ext cx="5577840" cy="1170432"/>
          </a:xfrm>
          <a:prstGeom prst="roundRect">
            <a:avLst>
              <a:gd name="adj" fmla="val 4688"/>
            </a:avLst>
          </a:prstGeom>
          <a:solidFill>
            <a:srgbClr val="0B1B2E"/>
          </a:solidFill>
          <a:ln/>
        </p:spPr>
      </p:sp>
      <p:sp>
        <p:nvSpPr>
          <p:cNvPr id="10" name="Text 8"/>
          <p:cNvSpPr/>
          <p:nvPr/>
        </p:nvSpPr>
        <p:spPr>
          <a:xfrm>
            <a:off x="713232" y="3529584"/>
            <a:ext cx="5248656" cy="914400"/>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df['Offer'] = df['Offer'].fillna('No Offer')</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df['Internet Type'] = df['Internet Type']\</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.fillna('No Internet Service')</a:t>
            </a:r>
            <a:endParaRPr lang="en-US" sz="1000" dirty="0"/>
          </a:p>
        </p:txBody>
      </p:sp>
      <p:sp>
        <p:nvSpPr>
          <p:cNvPr id="11" name="Text 9"/>
          <p:cNvSpPr/>
          <p:nvPr/>
        </p:nvSpPr>
        <p:spPr>
          <a:xfrm>
            <a:off x="6400800" y="3182112"/>
            <a:ext cx="5212080" cy="1325880"/>
          </a:xfrm>
          <a:prstGeom prst="rect">
            <a:avLst/>
          </a:prstGeom>
          <a:noFill/>
          <a:ln/>
        </p:spPr>
        <p:txBody>
          <a:bodyPr wrap="square" lIns="0" tIns="0" rIns="0" bIns="0" rtlCol="0" anchor="t"/>
          <a:lstStyle/>
          <a:p>
            <a:pPr marL="0" indent="0">
              <a:buNone/>
            </a:pPr>
            <a:r>
              <a:rPr lang="en-US" sz="1250" dirty="0">
                <a:solidFill>
                  <a:srgbClr val="525252"/>
                </a:solidFill>
                <a:latin typeface="Arial" pitchFamily="34" charset="0"/>
                <a:ea typeface="Arial" pitchFamily="34" charset="-122"/>
                <a:cs typeface="Arial" pitchFamily="34" charset="-120"/>
              </a:rPr>
              <a:t>A blank Offer means no promotion was given — that is information. Filling with the mode would have invented promotions that never existed.</a:t>
            </a:r>
            <a:endParaRPr lang="en-US" sz="1250" dirty="0"/>
          </a:p>
        </p:txBody>
      </p:sp>
      <p:sp>
        <p:nvSpPr>
          <p:cNvPr id="12" name="Text 10"/>
          <p:cNvSpPr/>
          <p:nvPr/>
        </p:nvSpPr>
        <p:spPr>
          <a:xfrm>
            <a:off x="548640" y="4626864"/>
            <a:ext cx="4937760" cy="292608"/>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3.  Split before you scale</a:t>
            </a:r>
            <a:endParaRPr lang="en-US" sz="1450" dirty="0"/>
          </a:p>
        </p:txBody>
      </p:sp>
      <p:sp>
        <p:nvSpPr>
          <p:cNvPr id="13" name="Shape 11"/>
          <p:cNvSpPr/>
          <p:nvPr/>
        </p:nvSpPr>
        <p:spPr>
          <a:xfrm>
            <a:off x="548640" y="4937760"/>
            <a:ext cx="5577840" cy="1170432"/>
          </a:xfrm>
          <a:prstGeom prst="roundRect">
            <a:avLst>
              <a:gd name="adj" fmla="val 4688"/>
            </a:avLst>
          </a:prstGeom>
          <a:solidFill>
            <a:srgbClr val="0B1B2E"/>
          </a:solidFill>
          <a:ln/>
        </p:spPr>
      </p:sp>
      <p:sp>
        <p:nvSpPr>
          <p:cNvPr id="14" name="Text 12"/>
          <p:cNvSpPr/>
          <p:nvPr/>
        </p:nvSpPr>
        <p:spPr>
          <a:xfrm>
            <a:off x="713232" y="5065776"/>
            <a:ext cx="5248656" cy="914400"/>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X_train, X_test, y_train, y_test = train_test_split(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X, Y, test_size=0.2, stratify=Y)</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scaler.fit_transform(X_train[cols])</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scaler.transform(X_test[cols])</a:t>
            </a:r>
            <a:endParaRPr lang="en-US" sz="1000" dirty="0"/>
          </a:p>
        </p:txBody>
      </p:sp>
      <p:sp>
        <p:nvSpPr>
          <p:cNvPr id="15" name="Text 13"/>
          <p:cNvSpPr/>
          <p:nvPr/>
        </p:nvSpPr>
        <p:spPr>
          <a:xfrm>
            <a:off x="6400800" y="4718304"/>
            <a:ext cx="5212080" cy="1325880"/>
          </a:xfrm>
          <a:prstGeom prst="rect">
            <a:avLst/>
          </a:prstGeom>
          <a:noFill/>
          <a:ln/>
        </p:spPr>
        <p:txBody>
          <a:bodyPr wrap="square" lIns="0" tIns="0" rIns="0" bIns="0" rtlCol="0" anchor="t"/>
          <a:lstStyle/>
          <a:p>
            <a:pPr marL="0" indent="0">
              <a:buNone/>
            </a:pPr>
            <a:r>
              <a:rPr lang="en-US" sz="1250" dirty="0">
                <a:solidFill>
                  <a:srgbClr val="525252"/>
                </a:solidFill>
                <a:latin typeface="Arial" pitchFamily="34" charset="0"/>
                <a:ea typeface="Arial" pitchFamily="34" charset="-122"/>
                <a:cs typeface="Arial" pitchFamily="34" charset="-120"/>
              </a:rPr>
              <a:t>Fitting the scaler on all rows leaks test-set statistics into training and makes the model look better than it is.</a:t>
            </a:r>
            <a:endParaRPr lang="en-US" sz="1250" dirty="0"/>
          </a:p>
        </p:txBody>
      </p:sp>
      <p:sp>
        <p:nvSpPr>
          <p:cNvPr id="16" name="Text 14"/>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7" name="Text 15"/>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CLEANING</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The data was not ready — here is what I fixed</a:t>
            </a:r>
            <a:endParaRPr lang="en-US" sz="3200" dirty="0"/>
          </a:p>
        </p:txBody>
      </p:sp>
      <p:sp>
        <p:nvSpPr>
          <p:cNvPr id="4" name="Shape 2"/>
          <p:cNvSpPr/>
          <p:nvPr/>
        </p:nvSpPr>
        <p:spPr>
          <a:xfrm>
            <a:off x="548640" y="1572768"/>
            <a:ext cx="11064240" cy="804672"/>
          </a:xfrm>
          <a:prstGeom prst="roundRect">
            <a:avLst>
              <a:gd name="adj" fmla="val 6818"/>
            </a:avLst>
          </a:prstGeom>
          <a:solidFill>
            <a:srgbClr val="F4F6FA"/>
          </a:solidFill>
          <a:ln w="12700">
            <a:solidFill>
              <a:srgbClr val="E4E9F2"/>
            </a:solidFill>
            <a:prstDash val="solid"/>
          </a:ln>
        </p:spPr>
      </p:sp>
      <p:sp>
        <p:nvSpPr>
          <p:cNvPr id="5" name="Shape 3"/>
          <p:cNvSpPr/>
          <p:nvPr/>
        </p:nvSpPr>
        <p:spPr>
          <a:xfrm>
            <a:off x="868680" y="1883664"/>
            <a:ext cx="164592" cy="164592"/>
          </a:xfrm>
          <a:prstGeom prst="ellipse">
            <a:avLst/>
          </a:prstGeom>
          <a:solidFill>
            <a:srgbClr val="DA1E28"/>
          </a:solidFill>
          <a:ln/>
        </p:spPr>
      </p:sp>
      <p:sp>
        <p:nvSpPr>
          <p:cNvPr id="6" name="Text 4"/>
          <p:cNvSpPr/>
          <p:nvPr/>
        </p:nvSpPr>
        <p:spPr>
          <a:xfrm>
            <a:off x="1234440" y="1664208"/>
            <a:ext cx="3749040" cy="621792"/>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Blank charges for new customers</a:t>
            </a:r>
            <a:endParaRPr lang="en-US" sz="1400" dirty="0"/>
          </a:p>
        </p:txBody>
      </p:sp>
      <p:sp>
        <p:nvSpPr>
          <p:cNvPr id="7" name="Text 5"/>
          <p:cNvSpPr/>
          <p:nvPr/>
        </p:nvSpPr>
        <p:spPr>
          <a:xfrm>
            <a:off x="5120640" y="1664208"/>
            <a:ext cx="630936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Converted text to numbers and filled with 0 — a blank meant a genuinely new customer, not a missing value.</a:t>
            </a:r>
            <a:endParaRPr lang="en-US" sz="1250" dirty="0"/>
          </a:p>
        </p:txBody>
      </p:sp>
      <p:sp>
        <p:nvSpPr>
          <p:cNvPr id="8" name="Shape 6"/>
          <p:cNvSpPr/>
          <p:nvPr/>
        </p:nvSpPr>
        <p:spPr>
          <a:xfrm>
            <a:off x="548640" y="2505456"/>
            <a:ext cx="11064240" cy="804672"/>
          </a:xfrm>
          <a:prstGeom prst="roundRect">
            <a:avLst>
              <a:gd name="adj" fmla="val 6818"/>
            </a:avLst>
          </a:prstGeom>
          <a:solidFill>
            <a:srgbClr val="FFFFFF"/>
          </a:solidFill>
          <a:ln w="12700">
            <a:solidFill>
              <a:srgbClr val="E4E9F2"/>
            </a:solidFill>
            <a:prstDash val="solid"/>
          </a:ln>
        </p:spPr>
      </p:sp>
      <p:sp>
        <p:nvSpPr>
          <p:cNvPr id="9" name="Shape 7"/>
          <p:cNvSpPr/>
          <p:nvPr/>
        </p:nvSpPr>
        <p:spPr>
          <a:xfrm>
            <a:off x="868680" y="2816352"/>
            <a:ext cx="164592" cy="164592"/>
          </a:xfrm>
          <a:prstGeom prst="ellipse">
            <a:avLst/>
          </a:prstGeom>
          <a:solidFill>
            <a:srgbClr val="DA1E28"/>
          </a:solidFill>
          <a:ln/>
        </p:spPr>
      </p:sp>
      <p:sp>
        <p:nvSpPr>
          <p:cNvPr id="10" name="Text 8"/>
          <p:cNvSpPr/>
          <p:nvPr/>
        </p:nvSpPr>
        <p:spPr>
          <a:xfrm>
            <a:off x="1234440" y="2596896"/>
            <a:ext cx="3749040" cy="621792"/>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55% of Offer values were empty</a:t>
            </a:r>
            <a:endParaRPr lang="en-US" sz="1400" dirty="0"/>
          </a:p>
        </p:txBody>
      </p:sp>
      <p:sp>
        <p:nvSpPr>
          <p:cNvPr id="11" name="Text 9"/>
          <p:cNvSpPr/>
          <p:nvPr/>
        </p:nvSpPr>
        <p:spPr>
          <a:xfrm>
            <a:off x="5120640" y="2596896"/>
            <a:ext cx="630936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Filled with 'No Offer' instead of the mode, because the blank itself carries the information.</a:t>
            </a:r>
            <a:endParaRPr lang="en-US" sz="1250" dirty="0"/>
          </a:p>
        </p:txBody>
      </p:sp>
      <p:sp>
        <p:nvSpPr>
          <p:cNvPr id="12" name="Shape 10"/>
          <p:cNvSpPr/>
          <p:nvPr/>
        </p:nvSpPr>
        <p:spPr>
          <a:xfrm>
            <a:off x="548640" y="3438144"/>
            <a:ext cx="11064240" cy="804672"/>
          </a:xfrm>
          <a:prstGeom prst="roundRect">
            <a:avLst>
              <a:gd name="adj" fmla="val 6818"/>
            </a:avLst>
          </a:prstGeom>
          <a:solidFill>
            <a:srgbClr val="F4F6FA"/>
          </a:solidFill>
          <a:ln w="12700">
            <a:solidFill>
              <a:srgbClr val="E4E9F2"/>
            </a:solidFill>
            <a:prstDash val="solid"/>
          </a:ln>
        </p:spPr>
      </p:sp>
      <p:sp>
        <p:nvSpPr>
          <p:cNvPr id="13" name="Shape 11"/>
          <p:cNvSpPr/>
          <p:nvPr/>
        </p:nvSpPr>
        <p:spPr>
          <a:xfrm>
            <a:off x="868680" y="3749040"/>
            <a:ext cx="164592" cy="164592"/>
          </a:xfrm>
          <a:prstGeom prst="ellipse">
            <a:avLst/>
          </a:prstGeom>
          <a:solidFill>
            <a:srgbClr val="DA1E28"/>
          </a:solidFill>
          <a:ln/>
        </p:spPr>
      </p:sp>
      <p:sp>
        <p:nvSpPr>
          <p:cNvPr id="14" name="Text 12"/>
          <p:cNvSpPr/>
          <p:nvPr/>
        </p:nvSpPr>
        <p:spPr>
          <a:xfrm>
            <a:off x="1234440" y="3529584"/>
            <a:ext cx="3749040" cy="621792"/>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Outlier capping could erase columns</a:t>
            </a:r>
            <a:endParaRPr lang="en-US" sz="1400" dirty="0"/>
          </a:p>
        </p:txBody>
      </p:sp>
      <p:sp>
        <p:nvSpPr>
          <p:cNvPr id="15" name="Text 13"/>
          <p:cNvSpPr/>
          <p:nvPr/>
        </p:nvSpPr>
        <p:spPr>
          <a:xfrm>
            <a:off x="5120640" y="3529584"/>
            <a:ext cx="630936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Added a guard that skips any column whose IQR is 0, so mostly-zero columns are not flattened.</a:t>
            </a:r>
            <a:endParaRPr lang="en-US" sz="1250" dirty="0"/>
          </a:p>
        </p:txBody>
      </p:sp>
      <p:sp>
        <p:nvSpPr>
          <p:cNvPr id="16" name="Shape 14"/>
          <p:cNvSpPr/>
          <p:nvPr/>
        </p:nvSpPr>
        <p:spPr>
          <a:xfrm>
            <a:off x="548640" y="4370832"/>
            <a:ext cx="11064240" cy="804672"/>
          </a:xfrm>
          <a:prstGeom prst="roundRect">
            <a:avLst>
              <a:gd name="adj" fmla="val 6818"/>
            </a:avLst>
          </a:prstGeom>
          <a:solidFill>
            <a:srgbClr val="FFFFFF"/>
          </a:solidFill>
          <a:ln w="12700">
            <a:solidFill>
              <a:srgbClr val="E4E9F2"/>
            </a:solidFill>
            <a:prstDash val="solid"/>
          </a:ln>
        </p:spPr>
      </p:sp>
      <p:sp>
        <p:nvSpPr>
          <p:cNvPr id="17" name="Shape 15"/>
          <p:cNvSpPr/>
          <p:nvPr/>
        </p:nvSpPr>
        <p:spPr>
          <a:xfrm>
            <a:off x="868680" y="4681728"/>
            <a:ext cx="164592" cy="164592"/>
          </a:xfrm>
          <a:prstGeom prst="ellipse">
            <a:avLst/>
          </a:prstGeom>
          <a:solidFill>
            <a:srgbClr val="DA1E28"/>
          </a:solidFill>
          <a:ln/>
        </p:spPr>
      </p:sp>
      <p:sp>
        <p:nvSpPr>
          <p:cNvPr id="18" name="Text 16"/>
          <p:cNvSpPr/>
          <p:nvPr/>
        </p:nvSpPr>
        <p:spPr>
          <a:xfrm>
            <a:off x="1234440" y="4462272"/>
            <a:ext cx="3749040" cy="621792"/>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Leakage columns gave away the answer</a:t>
            </a:r>
            <a:endParaRPr lang="en-US" sz="1400" dirty="0"/>
          </a:p>
        </p:txBody>
      </p:sp>
      <p:sp>
        <p:nvSpPr>
          <p:cNvPr id="19" name="Text 17"/>
          <p:cNvSpPr/>
          <p:nvPr/>
        </p:nvSpPr>
        <p:spPr>
          <a:xfrm>
            <a:off x="5120640" y="4462272"/>
            <a:ext cx="630936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Dropped Churn Label, Status and Score — they are known only because the outcome is known.</a:t>
            </a:r>
            <a:endParaRPr lang="en-US" sz="1250" dirty="0"/>
          </a:p>
        </p:txBody>
      </p:sp>
      <p:sp>
        <p:nvSpPr>
          <p:cNvPr id="20" name="Shape 18"/>
          <p:cNvSpPr/>
          <p:nvPr/>
        </p:nvSpPr>
        <p:spPr>
          <a:xfrm>
            <a:off x="548640" y="5303520"/>
            <a:ext cx="11064240" cy="804672"/>
          </a:xfrm>
          <a:prstGeom prst="roundRect">
            <a:avLst>
              <a:gd name="adj" fmla="val 6818"/>
            </a:avLst>
          </a:prstGeom>
          <a:solidFill>
            <a:srgbClr val="F4F6FA"/>
          </a:solidFill>
          <a:ln w="12700">
            <a:solidFill>
              <a:srgbClr val="E4E9F2"/>
            </a:solidFill>
            <a:prstDash val="solid"/>
          </a:ln>
        </p:spPr>
      </p:sp>
      <p:sp>
        <p:nvSpPr>
          <p:cNvPr id="21" name="Shape 19"/>
          <p:cNvSpPr/>
          <p:nvPr/>
        </p:nvSpPr>
        <p:spPr>
          <a:xfrm>
            <a:off x="868680" y="5614416"/>
            <a:ext cx="164592" cy="164592"/>
          </a:xfrm>
          <a:prstGeom prst="ellipse">
            <a:avLst/>
          </a:prstGeom>
          <a:solidFill>
            <a:srgbClr val="DA1E28"/>
          </a:solidFill>
          <a:ln/>
        </p:spPr>
      </p:sp>
      <p:sp>
        <p:nvSpPr>
          <p:cNvPr id="22" name="Text 20"/>
          <p:cNvSpPr/>
          <p:nvPr/>
        </p:nvSpPr>
        <p:spPr>
          <a:xfrm>
            <a:off x="1234440" y="5394960"/>
            <a:ext cx="3749040" cy="621792"/>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Scaling before splitting leaks data</a:t>
            </a:r>
            <a:endParaRPr lang="en-US" sz="1400" dirty="0"/>
          </a:p>
        </p:txBody>
      </p:sp>
      <p:sp>
        <p:nvSpPr>
          <p:cNvPr id="23" name="Text 21"/>
          <p:cNvSpPr/>
          <p:nvPr/>
        </p:nvSpPr>
        <p:spPr>
          <a:xfrm>
            <a:off x="5120640" y="5394960"/>
            <a:ext cx="630936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Split first, then fit the scaler on the training set only.</a:t>
            </a:r>
            <a:endParaRPr lang="en-US" sz="1250" dirty="0"/>
          </a:p>
        </p:txBody>
      </p:sp>
      <p:sp>
        <p:nvSpPr>
          <p:cNvPr id="24" name="Text 22"/>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25" name="Text 23"/>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CLEANING IN ACTION</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Outliers capped, not deleted</a:t>
            </a:r>
            <a:endParaRPr lang="en-US" sz="3200" dirty="0"/>
          </a:p>
        </p:txBody>
      </p:sp>
      <p:sp>
        <p:nvSpPr>
          <p:cNvPr id="4" name="Text 2"/>
          <p:cNvSpPr/>
          <p:nvPr/>
        </p:nvSpPr>
        <p:spPr>
          <a:xfrm>
            <a:off x="548640" y="1481328"/>
            <a:ext cx="5394960" cy="274320"/>
          </a:xfrm>
          <a:prstGeom prst="rect">
            <a:avLst/>
          </a:prstGeom>
          <a:noFill/>
          <a:ln/>
        </p:spPr>
        <p:txBody>
          <a:bodyPr wrap="square" lIns="0" tIns="0" rIns="0" bIns="0" rtlCol="0" anchor="ctr"/>
          <a:lstStyle/>
          <a:p>
            <a:pPr marL="0" indent="0">
              <a:buNone/>
            </a:pPr>
            <a:r>
              <a:rPr lang="en-US" sz="1200" b="1" kern="0" spc="200" dirty="0">
                <a:solidFill>
                  <a:srgbClr val="DA1E28"/>
                </a:solidFill>
                <a:latin typeface="Arial" pitchFamily="34" charset="0"/>
                <a:ea typeface="Arial" pitchFamily="34" charset="-122"/>
                <a:cs typeface="Arial" pitchFamily="34" charset="-120"/>
              </a:rPr>
              <a:t>BEFORE</a:t>
            </a:r>
            <a:endParaRPr lang="en-US" sz="1200" dirty="0"/>
          </a:p>
        </p:txBody>
      </p:sp>
      <p:pic>
        <p:nvPicPr>
          <p:cNvPr id="5" name="Image 0" descr="/home/claude/deckimg/Boxplot_before.png"/>
          <p:cNvPicPr>
            <a:picLocks noChangeAspect="1"/>
          </p:cNvPicPr>
          <p:nvPr/>
        </p:nvPicPr>
        <p:blipFill>
          <a:blip r:embed="rId3"/>
          <a:stretch>
            <a:fillRect/>
          </a:stretch>
        </p:blipFill>
        <p:spPr>
          <a:xfrm>
            <a:off x="548640" y="1783080"/>
            <a:ext cx="5394960" cy="2523744"/>
          </a:xfrm>
          <a:prstGeom prst="rect">
            <a:avLst/>
          </a:prstGeom>
        </p:spPr>
      </p:pic>
      <p:sp>
        <p:nvSpPr>
          <p:cNvPr id="6" name="Text 3"/>
          <p:cNvSpPr/>
          <p:nvPr/>
        </p:nvSpPr>
        <p:spPr>
          <a:xfrm>
            <a:off x="6217920" y="1481328"/>
            <a:ext cx="5394960" cy="274320"/>
          </a:xfrm>
          <a:prstGeom prst="rect">
            <a:avLst/>
          </a:prstGeom>
          <a:noFill/>
          <a:ln/>
        </p:spPr>
        <p:txBody>
          <a:bodyPr wrap="square" lIns="0" tIns="0" rIns="0" bIns="0" rtlCol="0" anchor="ctr"/>
          <a:lstStyle/>
          <a:p>
            <a:pPr marL="0" indent="0">
              <a:buNone/>
            </a:pPr>
            <a:r>
              <a:rPr lang="en-US" sz="1200" b="1" kern="0" spc="200" dirty="0">
                <a:solidFill>
                  <a:srgbClr val="1AA99B"/>
                </a:solidFill>
                <a:latin typeface="Arial" pitchFamily="34" charset="0"/>
                <a:ea typeface="Arial" pitchFamily="34" charset="-122"/>
                <a:cs typeface="Arial" pitchFamily="34" charset="-120"/>
              </a:rPr>
              <a:t>AFTER</a:t>
            </a:r>
            <a:endParaRPr lang="en-US" sz="1200" dirty="0"/>
          </a:p>
        </p:txBody>
      </p:sp>
      <p:pic>
        <p:nvPicPr>
          <p:cNvPr id="7" name="Image 1" descr="/home/claude/deckimg/Boxplot_After.png"/>
          <p:cNvPicPr>
            <a:picLocks noChangeAspect="1"/>
          </p:cNvPicPr>
          <p:nvPr/>
        </p:nvPicPr>
        <p:blipFill>
          <a:blip r:embed="rId4"/>
          <a:stretch>
            <a:fillRect/>
          </a:stretch>
        </p:blipFill>
        <p:spPr>
          <a:xfrm>
            <a:off x="6217920" y="1783080"/>
            <a:ext cx="5394960" cy="2542032"/>
          </a:xfrm>
          <a:prstGeom prst="rect">
            <a:avLst/>
          </a:prstGeom>
        </p:spPr>
      </p:pic>
      <p:sp>
        <p:nvSpPr>
          <p:cNvPr id="8" name="Shape 4"/>
          <p:cNvSpPr/>
          <p:nvPr/>
        </p:nvSpPr>
        <p:spPr>
          <a:xfrm>
            <a:off x="548640" y="4617720"/>
            <a:ext cx="11064240" cy="1051560"/>
          </a:xfrm>
          <a:prstGeom prst="roundRect">
            <a:avLst>
              <a:gd name="adj" fmla="val 6957"/>
            </a:avLst>
          </a:prstGeom>
          <a:solidFill>
            <a:srgbClr val="F4F6FA"/>
          </a:solidFill>
          <a:ln w="12700">
            <a:solidFill>
              <a:srgbClr val="E4E9F2"/>
            </a:solidFill>
            <a:prstDash val="solid"/>
          </a:ln>
        </p:spPr>
      </p:sp>
      <p:sp>
        <p:nvSpPr>
          <p:cNvPr id="9" name="Text 5"/>
          <p:cNvSpPr/>
          <p:nvPr/>
        </p:nvSpPr>
        <p:spPr>
          <a:xfrm>
            <a:off x="914400" y="4828032"/>
            <a:ext cx="10332720" cy="320040"/>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Extreme values were capped with the IQR method rather than dropped — no customer was removed from the dataset.</a:t>
            </a:r>
            <a:endParaRPr lang="en-US" sz="1400" dirty="0"/>
          </a:p>
        </p:txBody>
      </p:sp>
      <p:sp>
        <p:nvSpPr>
          <p:cNvPr id="10" name="Text 6"/>
          <p:cNvSpPr/>
          <p:nvPr/>
        </p:nvSpPr>
        <p:spPr>
          <a:xfrm>
            <a:off x="914400" y="5193792"/>
            <a:ext cx="10332720" cy="320040"/>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Skewness was measured and log-tested; the linear scale was kept so the numbers stay readable for SQL and Tableau.</a:t>
            </a:r>
            <a:endParaRPr lang="en-US" sz="1250" dirty="0"/>
          </a:p>
        </p:txBody>
      </p:sp>
      <p:sp>
        <p:nvSpPr>
          <p:cNvPr id="11" name="Text 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2" name="Text 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SQL DATA STORYTELLING</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Fifteen questions, told as a story</a:t>
            </a:r>
            <a:endParaRPr lang="en-US" sz="3200" dirty="0"/>
          </a:p>
        </p:txBody>
      </p:sp>
      <p:sp>
        <p:nvSpPr>
          <p:cNvPr id="4" name="Shape 2"/>
          <p:cNvSpPr/>
          <p:nvPr/>
        </p:nvSpPr>
        <p:spPr>
          <a:xfrm>
            <a:off x="548640" y="1600200"/>
            <a:ext cx="11064240" cy="749808"/>
          </a:xfrm>
          <a:prstGeom prst="roundRect">
            <a:avLst>
              <a:gd name="adj" fmla="val 7317"/>
            </a:avLst>
          </a:prstGeom>
          <a:solidFill>
            <a:srgbClr val="F4F6FA"/>
          </a:solidFill>
          <a:ln w="12700">
            <a:solidFill>
              <a:srgbClr val="E4E9F2"/>
            </a:solidFill>
            <a:prstDash val="solid"/>
          </a:ln>
        </p:spPr>
      </p:sp>
      <p:sp>
        <p:nvSpPr>
          <p:cNvPr id="5" name="Shape 3"/>
          <p:cNvSpPr/>
          <p:nvPr/>
        </p:nvSpPr>
        <p:spPr>
          <a:xfrm>
            <a:off x="841248" y="1783080"/>
            <a:ext cx="384048" cy="384048"/>
          </a:xfrm>
          <a:prstGeom prst="ellipse">
            <a:avLst/>
          </a:prstGeom>
          <a:solidFill>
            <a:srgbClr val="DA1E28"/>
          </a:solidFill>
          <a:ln/>
        </p:spPr>
      </p:sp>
      <p:sp>
        <p:nvSpPr>
          <p:cNvPr id="6" name="Text 4"/>
          <p:cNvSpPr/>
          <p:nvPr/>
        </p:nvSpPr>
        <p:spPr>
          <a:xfrm>
            <a:off x="841248" y="1783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17320" y="1673352"/>
            <a:ext cx="3931920" cy="603504"/>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How big is the churn?</a:t>
            </a:r>
            <a:endParaRPr lang="en-US" sz="1450" dirty="0"/>
          </a:p>
        </p:txBody>
      </p:sp>
      <p:sp>
        <p:nvSpPr>
          <p:cNvPr id="8" name="Text 6"/>
          <p:cNvSpPr/>
          <p:nvPr/>
        </p:nvSpPr>
        <p:spPr>
          <a:xfrm>
            <a:off x="5394960" y="1673352"/>
            <a:ext cx="6035040" cy="603504"/>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Overall rate, satisfaction and CLTV by status</a:t>
            </a:r>
            <a:endParaRPr lang="en-US" sz="1250" dirty="0"/>
          </a:p>
        </p:txBody>
      </p:sp>
      <p:sp>
        <p:nvSpPr>
          <p:cNvPr id="9" name="Shape 7"/>
          <p:cNvSpPr/>
          <p:nvPr/>
        </p:nvSpPr>
        <p:spPr>
          <a:xfrm>
            <a:off x="548640" y="2478024"/>
            <a:ext cx="11064240" cy="749808"/>
          </a:xfrm>
          <a:prstGeom prst="roundRect">
            <a:avLst>
              <a:gd name="adj" fmla="val 7317"/>
            </a:avLst>
          </a:prstGeom>
          <a:solidFill>
            <a:srgbClr val="FFFFFF"/>
          </a:solidFill>
          <a:ln w="12700">
            <a:solidFill>
              <a:srgbClr val="E4E9F2"/>
            </a:solidFill>
            <a:prstDash val="solid"/>
          </a:ln>
        </p:spPr>
      </p:sp>
      <p:sp>
        <p:nvSpPr>
          <p:cNvPr id="10" name="Shape 8"/>
          <p:cNvSpPr/>
          <p:nvPr/>
        </p:nvSpPr>
        <p:spPr>
          <a:xfrm>
            <a:off x="841248" y="2660904"/>
            <a:ext cx="384048" cy="384048"/>
          </a:xfrm>
          <a:prstGeom prst="ellipse">
            <a:avLst/>
          </a:prstGeom>
          <a:solidFill>
            <a:srgbClr val="0F62FE"/>
          </a:solidFill>
          <a:ln/>
        </p:spPr>
      </p:sp>
      <p:sp>
        <p:nvSpPr>
          <p:cNvPr id="11" name="Text 9"/>
          <p:cNvSpPr/>
          <p:nvPr/>
        </p:nvSpPr>
        <p:spPr>
          <a:xfrm>
            <a:off x="841248" y="26609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17320" y="2551176"/>
            <a:ext cx="3931920" cy="603504"/>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Who is leaving?</a:t>
            </a:r>
            <a:endParaRPr lang="en-US" sz="1450" dirty="0"/>
          </a:p>
        </p:txBody>
      </p:sp>
      <p:sp>
        <p:nvSpPr>
          <p:cNvPr id="13" name="Text 11"/>
          <p:cNvSpPr/>
          <p:nvPr/>
        </p:nvSpPr>
        <p:spPr>
          <a:xfrm>
            <a:off x="5394960" y="2551176"/>
            <a:ext cx="6035040" cy="603504"/>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Age, gender, marital status and dependents</a:t>
            </a:r>
            <a:endParaRPr lang="en-US" sz="1250" dirty="0"/>
          </a:p>
        </p:txBody>
      </p:sp>
      <p:sp>
        <p:nvSpPr>
          <p:cNvPr id="14" name="Shape 12"/>
          <p:cNvSpPr/>
          <p:nvPr/>
        </p:nvSpPr>
        <p:spPr>
          <a:xfrm>
            <a:off x="548640" y="3355848"/>
            <a:ext cx="11064240" cy="749808"/>
          </a:xfrm>
          <a:prstGeom prst="roundRect">
            <a:avLst>
              <a:gd name="adj" fmla="val 7317"/>
            </a:avLst>
          </a:prstGeom>
          <a:solidFill>
            <a:srgbClr val="F4F6FA"/>
          </a:solidFill>
          <a:ln w="12700">
            <a:solidFill>
              <a:srgbClr val="E4E9F2"/>
            </a:solidFill>
            <a:prstDash val="solid"/>
          </a:ln>
        </p:spPr>
      </p:sp>
      <p:sp>
        <p:nvSpPr>
          <p:cNvPr id="15" name="Shape 13"/>
          <p:cNvSpPr/>
          <p:nvPr/>
        </p:nvSpPr>
        <p:spPr>
          <a:xfrm>
            <a:off x="841248" y="3538728"/>
            <a:ext cx="384048" cy="384048"/>
          </a:xfrm>
          <a:prstGeom prst="ellipse">
            <a:avLst/>
          </a:prstGeom>
          <a:solidFill>
            <a:srgbClr val="0F62FE"/>
          </a:solidFill>
          <a:ln/>
        </p:spPr>
      </p:sp>
      <p:sp>
        <p:nvSpPr>
          <p:cNvPr id="16" name="Text 14"/>
          <p:cNvSpPr/>
          <p:nvPr/>
        </p:nvSpPr>
        <p:spPr>
          <a:xfrm>
            <a:off x="841248" y="3538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17320" y="3429000"/>
            <a:ext cx="3931920" cy="603504"/>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Where are they?</a:t>
            </a:r>
            <a:endParaRPr lang="en-US" sz="1450" dirty="0"/>
          </a:p>
        </p:txBody>
      </p:sp>
      <p:sp>
        <p:nvSpPr>
          <p:cNvPr id="18" name="Text 16"/>
          <p:cNvSpPr/>
          <p:nvPr/>
        </p:nvSpPr>
        <p:spPr>
          <a:xfrm>
            <a:off x="5394960" y="3429000"/>
            <a:ext cx="6035040" cy="603504"/>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Cities and population density</a:t>
            </a:r>
            <a:endParaRPr lang="en-US" sz="1250" dirty="0"/>
          </a:p>
        </p:txBody>
      </p:sp>
      <p:sp>
        <p:nvSpPr>
          <p:cNvPr id="19" name="Shape 17"/>
          <p:cNvSpPr/>
          <p:nvPr/>
        </p:nvSpPr>
        <p:spPr>
          <a:xfrm>
            <a:off x="548640" y="4233672"/>
            <a:ext cx="11064240" cy="749808"/>
          </a:xfrm>
          <a:prstGeom prst="roundRect">
            <a:avLst>
              <a:gd name="adj" fmla="val 7317"/>
            </a:avLst>
          </a:prstGeom>
          <a:solidFill>
            <a:srgbClr val="FFFFFF"/>
          </a:solidFill>
          <a:ln w="12700">
            <a:solidFill>
              <a:srgbClr val="E4E9F2"/>
            </a:solidFill>
            <a:prstDash val="solid"/>
          </a:ln>
        </p:spPr>
      </p:sp>
      <p:sp>
        <p:nvSpPr>
          <p:cNvPr id="20" name="Shape 18"/>
          <p:cNvSpPr/>
          <p:nvPr/>
        </p:nvSpPr>
        <p:spPr>
          <a:xfrm>
            <a:off x="841248" y="4416552"/>
            <a:ext cx="384048" cy="384048"/>
          </a:xfrm>
          <a:prstGeom prst="ellipse">
            <a:avLst/>
          </a:prstGeom>
          <a:solidFill>
            <a:srgbClr val="DA1E28"/>
          </a:solidFill>
          <a:ln/>
        </p:spPr>
      </p:sp>
      <p:sp>
        <p:nvSpPr>
          <p:cNvPr id="21" name="Text 19"/>
          <p:cNvSpPr/>
          <p:nvPr/>
        </p:nvSpPr>
        <p:spPr>
          <a:xfrm>
            <a:off x="841248" y="44165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1417320" y="4306824"/>
            <a:ext cx="3931920" cy="603504"/>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Why do they leave?</a:t>
            </a:r>
            <a:endParaRPr lang="en-US" sz="1450" dirty="0"/>
          </a:p>
        </p:txBody>
      </p:sp>
      <p:sp>
        <p:nvSpPr>
          <p:cNvPr id="23" name="Text 21"/>
          <p:cNvSpPr/>
          <p:nvPr/>
        </p:nvSpPr>
        <p:spPr>
          <a:xfrm>
            <a:off x="5394960" y="4306824"/>
            <a:ext cx="6035040" cy="603504"/>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Contract, payment, internet, support and stated reasons</a:t>
            </a:r>
            <a:endParaRPr lang="en-US" sz="1250" dirty="0"/>
          </a:p>
        </p:txBody>
      </p:sp>
      <p:sp>
        <p:nvSpPr>
          <p:cNvPr id="24" name="Shape 22"/>
          <p:cNvSpPr/>
          <p:nvPr/>
        </p:nvSpPr>
        <p:spPr>
          <a:xfrm>
            <a:off x="548640" y="5111496"/>
            <a:ext cx="11064240" cy="749808"/>
          </a:xfrm>
          <a:prstGeom prst="roundRect">
            <a:avLst>
              <a:gd name="adj" fmla="val 7317"/>
            </a:avLst>
          </a:prstGeom>
          <a:solidFill>
            <a:srgbClr val="F4F6FA"/>
          </a:solidFill>
          <a:ln w="12700">
            <a:solidFill>
              <a:srgbClr val="E4E9F2"/>
            </a:solidFill>
            <a:prstDash val="solid"/>
          </a:ln>
        </p:spPr>
      </p:sp>
      <p:sp>
        <p:nvSpPr>
          <p:cNvPr id="25" name="Shape 23"/>
          <p:cNvSpPr/>
          <p:nvPr/>
        </p:nvSpPr>
        <p:spPr>
          <a:xfrm>
            <a:off x="841248" y="5294376"/>
            <a:ext cx="384048" cy="384048"/>
          </a:xfrm>
          <a:prstGeom prst="ellipse">
            <a:avLst/>
          </a:prstGeom>
          <a:solidFill>
            <a:srgbClr val="1AA99B"/>
          </a:solidFill>
          <a:ln/>
        </p:spPr>
      </p:sp>
      <p:sp>
        <p:nvSpPr>
          <p:cNvPr id="26" name="Text 24"/>
          <p:cNvSpPr/>
          <p:nvPr/>
        </p:nvSpPr>
        <p:spPr>
          <a:xfrm>
            <a:off x="841248" y="52943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p:nvPr/>
        </p:nvSpPr>
        <p:spPr>
          <a:xfrm>
            <a:off x="1417320" y="5184648"/>
            <a:ext cx="3931920" cy="603504"/>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Value at risk</a:t>
            </a:r>
            <a:endParaRPr lang="en-US" sz="1450" dirty="0"/>
          </a:p>
        </p:txBody>
      </p:sp>
      <p:sp>
        <p:nvSpPr>
          <p:cNvPr id="28" name="Text 26"/>
          <p:cNvSpPr/>
          <p:nvPr/>
        </p:nvSpPr>
        <p:spPr>
          <a:xfrm>
            <a:off x="5394960" y="5184648"/>
            <a:ext cx="6035040" cy="603504"/>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Tenure, monthly charge and high-CLTV churners</a:t>
            </a:r>
            <a:endParaRPr lang="en-US" sz="1250" dirty="0"/>
          </a:p>
        </p:txBody>
      </p:sp>
      <p:sp>
        <p:nvSpPr>
          <p:cNvPr id="29" name="Text 27"/>
          <p:cNvSpPr/>
          <p:nvPr/>
        </p:nvSpPr>
        <p:spPr>
          <a:xfrm>
            <a:off x="548640" y="5925312"/>
            <a:ext cx="11064240" cy="274320"/>
          </a:xfrm>
          <a:prstGeom prst="rect">
            <a:avLst/>
          </a:prstGeom>
          <a:noFill/>
          <a:ln/>
        </p:spPr>
        <p:txBody>
          <a:bodyPr wrap="square" lIns="0" tIns="0" rIns="0" bIns="0" rtlCol="0" anchor="ctr"/>
          <a:lstStyle/>
          <a:p>
            <a:pPr marL="0" indent="0">
              <a:buNone/>
            </a:pPr>
            <a:r>
              <a:rPr lang="en-US" sz="1200" i="1" dirty="0">
                <a:solidFill>
                  <a:srgbClr val="8D8D8D"/>
                </a:solidFill>
                <a:latin typeface="Arial" pitchFamily="34" charset="0"/>
                <a:ea typeface="Arial" pitchFamily="34" charset="-122"/>
                <a:cs typeface="Arial" pitchFamily="34" charset="-120"/>
              </a:rPr>
              <a:t>Written against SQL Server using JOIN, CASE, HAVING, ISNULL and window functions — each query answers one business question.</a:t>
            </a:r>
            <a:endParaRPr lang="en-US" sz="1200" dirty="0"/>
          </a:p>
        </p:txBody>
      </p:sp>
      <p:sp>
        <p:nvSpPr>
          <p:cNvPr id="30" name="Text 28"/>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31" name="Text 29"/>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SQL IN ACTION</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Question 1 — how big is the problem?</a:t>
            </a:r>
            <a:endParaRPr lang="en-US" sz="3200" dirty="0"/>
          </a:p>
        </p:txBody>
      </p:sp>
      <p:sp>
        <p:nvSpPr>
          <p:cNvPr id="4" name="Shape 2"/>
          <p:cNvSpPr/>
          <p:nvPr/>
        </p:nvSpPr>
        <p:spPr>
          <a:xfrm>
            <a:off x="548640" y="1554480"/>
            <a:ext cx="5852160" cy="2286000"/>
          </a:xfrm>
          <a:prstGeom prst="roundRect">
            <a:avLst>
              <a:gd name="adj" fmla="val 2400"/>
            </a:avLst>
          </a:prstGeom>
          <a:solidFill>
            <a:srgbClr val="0B1B2E"/>
          </a:solidFill>
          <a:ln/>
        </p:spPr>
      </p:sp>
      <p:sp>
        <p:nvSpPr>
          <p:cNvPr id="5" name="Text 3"/>
          <p:cNvSpPr/>
          <p:nvPr/>
        </p:nvSpPr>
        <p:spPr>
          <a:xfrm>
            <a:off x="713232" y="1682496"/>
            <a:ext cx="5522976" cy="2029968"/>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SELECT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COUNT(*) AS Total_Customers,</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SUM(CASE WHEN Customer_Status = 'Churned'</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THEN 1 ELSE 0 END) AS Churned,</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CAST(SUM(Churn_Value) AS FLOAT) * 100</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 COUNT(*) AS Churn_Rate_Percent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FROM Telco_customer_churn_status;</a:t>
            </a:r>
            <a:endParaRPr lang="en-US" sz="1000" dirty="0"/>
          </a:p>
        </p:txBody>
      </p:sp>
      <p:sp>
        <p:nvSpPr>
          <p:cNvPr id="6" name="Text 4"/>
          <p:cNvSpPr/>
          <p:nvPr/>
        </p:nvSpPr>
        <p:spPr>
          <a:xfrm>
            <a:off x="6766560" y="1554480"/>
            <a:ext cx="484632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Arial" pitchFamily="34" charset="0"/>
                <a:ea typeface="Arial" pitchFamily="34" charset="-122"/>
                <a:cs typeface="Arial" pitchFamily="34" charset="-120"/>
              </a:rPr>
              <a:t>Result</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4632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256032">
                <a:tc>
                  <a:txBody>
                    <a:bodyPr/>
                    <a:lstStyle/>
                    <a:p>
                      <a:pPr marL="0" indent="0">
                        <a:buNone/>
                      </a:pPr>
                      <a:r>
                        <a:rPr lang="en-US" sz="1100" b="1" dirty="0">
                          <a:solidFill>
                            <a:srgbClr val="FFFFFF"/>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Churned</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Joined</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Rate</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7,043</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1,869</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454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26.54%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1"/>
                  </a:ext>
                </a:extLst>
              </a:tr>
            </a:tbl>
          </a:graphicData>
        </a:graphic>
      </p:graphicFrame>
      <p:sp>
        <p:nvSpPr>
          <p:cNvPr id="8" name="Shape 5"/>
          <p:cNvSpPr/>
          <p:nvPr/>
        </p:nvSpPr>
        <p:spPr>
          <a:xfrm>
            <a:off x="6766560" y="2788920"/>
            <a:ext cx="4846320" cy="1051560"/>
          </a:xfrm>
          <a:prstGeom prst="roundRect">
            <a:avLst>
              <a:gd name="adj" fmla="val 5217"/>
            </a:avLst>
          </a:prstGeom>
          <a:solidFill>
            <a:srgbClr val="0F2340"/>
          </a:solidFill>
          <a:ln/>
        </p:spPr>
      </p:sp>
      <p:sp>
        <p:nvSpPr>
          <p:cNvPr id="9" name="Text 6"/>
          <p:cNvSpPr/>
          <p:nvPr/>
        </p:nvSpPr>
        <p:spPr>
          <a:xfrm>
            <a:off x="6967728" y="2898648"/>
            <a:ext cx="4443984" cy="219456"/>
          </a:xfrm>
          <a:prstGeom prst="rect">
            <a:avLst/>
          </a:prstGeom>
          <a:noFill/>
          <a:ln/>
        </p:spPr>
        <p:txBody>
          <a:bodyPr wrap="square" lIns="0" tIns="0" rIns="0" bIns="0" rtlCol="0" anchor="ctr"/>
          <a:lstStyle/>
          <a:p>
            <a:pPr marL="0" indent="0">
              <a:buNone/>
            </a:pPr>
            <a:r>
              <a:rPr lang="en-US" sz="950" b="1" kern="0" spc="150" dirty="0">
                <a:solidFill>
                  <a:srgbClr val="4589FF"/>
                </a:solidFill>
                <a:latin typeface="Arial" pitchFamily="34" charset="0"/>
                <a:ea typeface="Arial" pitchFamily="34" charset="-122"/>
                <a:cs typeface="Arial" pitchFamily="34" charset="-120"/>
              </a:rPr>
              <a:t>WHAT IT GAVE US</a:t>
            </a:r>
            <a:endParaRPr lang="en-US" sz="950" dirty="0"/>
          </a:p>
        </p:txBody>
      </p:sp>
      <p:sp>
        <p:nvSpPr>
          <p:cNvPr id="10" name="Text 7"/>
          <p:cNvSpPr/>
          <p:nvPr/>
        </p:nvSpPr>
        <p:spPr>
          <a:xfrm>
            <a:off x="6967728" y="3136392"/>
            <a:ext cx="4443984" cy="576072"/>
          </a:xfrm>
          <a:prstGeom prst="rect">
            <a:avLst/>
          </a:prstGeom>
          <a:noFill/>
          <a:ln/>
        </p:spPr>
        <p:txBody>
          <a:bodyPr wrap="square" lIns="0" tIns="0" rIns="0" bIns="0" rtlCol="0" anchor="t"/>
          <a:lstStyle/>
          <a:p>
            <a:pPr marL="0" indent="0">
              <a:buNone/>
            </a:pPr>
            <a:r>
              <a:rPr lang="en-US" sz="1250" dirty="0">
                <a:solidFill>
                  <a:srgbClr val="D3DCEA"/>
                </a:solidFill>
                <a:latin typeface="Arial" pitchFamily="34" charset="0"/>
                <a:ea typeface="Arial" pitchFamily="34" charset="-122"/>
                <a:cs typeface="Arial" pitchFamily="34" charset="-120"/>
              </a:rPr>
              <a:t>A single baseline number for the whole project — every later finding is measured against this 26.5%.</a:t>
            </a:r>
            <a:endParaRPr lang="en-US" sz="1250" dirty="0"/>
          </a:p>
        </p:txBody>
      </p:sp>
      <p:sp>
        <p:nvSpPr>
          <p:cNvPr id="11" name="Text 8"/>
          <p:cNvSpPr/>
          <p:nvPr/>
        </p:nvSpPr>
        <p:spPr>
          <a:xfrm>
            <a:off x="548640" y="4160520"/>
            <a:ext cx="11064240" cy="731520"/>
          </a:xfrm>
          <a:prstGeom prst="rect">
            <a:avLst/>
          </a:prstGeom>
          <a:noFill/>
          <a:ln/>
        </p:spPr>
        <p:txBody>
          <a:bodyPr wrap="square" lIns="0" tIns="0" rIns="0" bIns="0" rtlCol="0" anchor="ctr"/>
          <a:lstStyle/>
          <a:p>
            <a:pPr marL="0" indent="0">
              <a:buNone/>
            </a:pPr>
            <a:r>
              <a:rPr lang="en-US" sz="1350" dirty="0">
                <a:solidFill>
                  <a:srgbClr val="525252"/>
                </a:solidFill>
                <a:latin typeface="Arial" pitchFamily="34" charset="0"/>
                <a:ea typeface="Arial" pitchFamily="34" charset="-122"/>
                <a:cs typeface="Arial" pitchFamily="34" charset="-120"/>
              </a:rPr>
              <a:t>A second query added the context: churned customers rate satisfaction 1.74 out of 5, against 3.77 for those who stayed — a 2-point gap that became the clearest early-warning signal in the data.</a:t>
            </a:r>
            <a:endParaRPr lang="en-US" sz="1350" dirty="0"/>
          </a:p>
        </p:txBody>
      </p:sp>
      <p:sp>
        <p:nvSpPr>
          <p:cNvPr id="7" name="Text 9"/>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3" name="Text 10"/>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SQL IN ACTION</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Question 2 — who exactly is leaving?</a:t>
            </a:r>
            <a:endParaRPr lang="en-US" sz="3200" dirty="0"/>
          </a:p>
        </p:txBody>
      </p:sp>
      <p:sp>
        <p:nvSpPr>
          <p:cNvPr id="4" name="Shape 2"/>
          <p:cNvSpPr/>
          <p:nvPr/>
        </p:nvSpPr>
        <p:spPr>
          <a:xfrm>
            <a:off x="548640" y="1554480"/>
            <a:ext cx="5852160" cy="2514600"/>
          </a:xfrm>
          <a:prstGeom prst="roundRect">
            <a:avLst>
              <a:gd name="adj" fmla="val 2182"/>
            </a:avLst>
          </a:prstGeom>
          <a:solidFill>
            <a:srgbClr val="0B1B2E"/>
          </a:solidFill>
          <a:ln/>
        </p:spPr>
      </p:sp>
      <p:sp>
        <p:nvSpPr>
          <p:cNvPr id="5" name="Text 3"/>
          <p:cNvSpPr/>
          <p:nvPr/>
        </p:nvSpPr>
        <p:spPr>
          <a:xfrm>
            <a:off x="713232" y="1682496"/>
            <a:ext cx="5522976" cy="2258568"/>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SELECT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CASE WHEN d.Age &gt;= 65 THEN '65+ (Senior)'</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WHEN d.Age &gt;= 45 THEN '45-64'</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WHEN d.Age &gt;= 30 THEN '30-44'</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ELSE '18-29' END AS Age_Group,</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COUNT(*) AS Total,</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CAST(SUM(s.Churn_Value) AS FLOAT) * 100</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 COUNT(*) AS Churn_Rate</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FROM demographics d JOIN status s</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ON d.Customer_ID = s.Customer_ID</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GROUP BY ... ORDER BY Churn_Rate DESC;</a:t>
            </a:r>
            <a:endParaRPr lang="en-US" sz="1000" dirty="0"/>
          </a:p>
        </p:txBody>
      </p:sp>
      <p:sp>
        <p:nvSpPr>
          <p:cNvPr id="6" name="Text 4"/>
          <p:cNvSpPr/>
          <p:nvPr/>
        </p:nvSpPr>
        <p:spPr>
          <a:xfrm>
            <a:off x="6766560" y="1554480"/>
            <a:ext cx="484632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Arial" pitchFamily="34" charset="0"/>
                <a:ea typeface="Arial" pitchFamily="34" charset="-122"/>
                <a:cs typeface="Arial" pitchFamily="34" charset="-120"/>
              </a:rPr>
              <a:t>Result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463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56032">
                <a:tc>
                  <a:txBody>
                    <a:bodyPr/>
                    <a:lstStyle/>
                    <a:p>
                      <a:pPr marL="0" indent="0">
                        <a:buNone/>
                      </a:pPr>
                      <a:r>
                        <a:rPr lang="en-US" sz="1100" b="1" dirty="0">
                          <a:solidFill>
                            <a:srgbClr val="FFFFFF"/>
                          </a:solidFill>
                          <a:latin typeface="Arial" pitchFamily="34" charset="0"/>
                          <a:ea typeface="Arial" pitchFamily="34" charset="-122"/>
                          <a:cs typeface="Arial" pitchFamily="34" charset="-120"/>
                        </a:rPr>
                        <a:t>Age group</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Customers</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Churn</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65+ (Senior)</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1,142</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41.7%</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30–44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1,943</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24.4%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45–64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2,557</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24.0%</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18–29</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1,401</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21.7%</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6766560" y="3337560"/>
            <a:ext cx="4846320" cy="1371600"/>
          </a:xfrm>
          <a:prstGeom prst="roundRect">
            <a:avLst>
              <a:gd name="adj" fmla="val 4000"/>
            </a:avLst>
          </a:prstGeom>
          <a:solidFill>
            <a:srgbClr val="0F2340"/>
          </a:solidFill>
          <a:ln/>
        </p:spPr>
      </p:sp>
      <p:sp>
        <p:nvSpPr>
          <p:cNvPr id="9" name="Text 6"/>
          <p:cNvSpPr/>
          <p:nvPr/>
        </p:nvSpPr>
        <p:spPr>
          <a:xfrm>
            <a:off x="6967728" y="3447288"/>
            <a:ext cx="4443984" cy="219456"/>
          </a:xfrm>
          <a:prstGeom prst="rect">
            <a:avLst/>
          </a:prstGeom>
          <a:noFill/>
          <a:ln/>
        </p:spPr>
        <p:txBody>
          <a:bodyPr wrap="square" lIns="0" tIns="0" rIns="0" bIns="0" rtlCol="0" anchor="ctr"/>
          <a:lstStyle/>
          <a:p>
            <a:pPr marL="0" indent="0">
              <a:buNone/>
            </a:pPr>
            <a:r>
              <a:rPr lang="en-US" sz="950" b="1" kern="0" spc="150" dirty="0">
                <a:solidFill>
                  <a:srgbClr val="4589FF"/>
                </a:solidFill>
                <a:latin typeface="Arial" pitchFamily="34" charset="0"/>
                <a:ea typeface="Arial" pitchFamily="34" charset="-122"/>
                <a:cs typeface="Arial" pitchFamily="34" charset="-120"/>
              </a:rPr>
              <a:t>WHAT IT GAVE US</a:t>
            </a:r>
            <a:endParaRPr lang="en-US" sz="950" dirty="0"/>
          </a:p>
        </p:txBody>
      </p:sp>
      <p:sp>
        <p:nvSpPr>
          <p:cNvPr id="10" name="Text 7"/>
          <p:cNvSpPr/>
          <p:nvPr/>
        </p:nvSpPr>
        <p:spPr>
          <a:xfrm>
            <a:off x="6967728" y="3685032"/>
            <a:ext cx="4443984" cy="896112"/>
          </a:xfrm>
          <a:prstGeom prst="rect">
            <a:avLst/>
          </a:prstGeom>
          <a:noFill/>
          <a:ln/>
        </p:spPr>
        <p:txBody>
          <a:bodyPr wrap="square" lIns="0" tIns="0" rIns="0" bIns="0" rtlCol="0" anchor="t"/>
          <a:lstStyle/>
          <a:p>
            <a:pPr marL="0" indent="0">
              <a:buNone/>
            </a:pPr>
            <a:r>
              <a:rPr lang="en-US" sz="1250" dirty="0">
                <a:solidFill>
                  <a:srgbClr val="D3DCEA"/>
                </a:solidFill>
                <a:latin typeface="Arial" pitchFamily="34" charset="0"/>
                <a:ea typeface="Arial" pitchFamily="34" charset="-122"/>
                <a:cs typeface="Arial" pitchFamily="34" charset="-120"/>
              </a:rPr>
              <a:t>Seniors churn at almost twice the rate of every other age group — a segment the dashboards alone would not have surfaced.</a:t>
            </a:r>
            <a:endParaRPr lang="en-US" sz="1250" dirty="0"/>
          </a:p>
        </p:txBody>
      </p:sp>
      <p:sp>
        <p:nvSpPr>
          <p:cNvPr id="11" name="Text 8"/>
          <p:cNvSpPr/>
          <p:nvPr/>
        </p:nvSpPr>
        <p:spPr>
          <a:xfrm>
            <a:off x="548640" y="4892040"/>
            <a:ext cx="11064240" cy="731520"/>
          </a:xfrm>
          <a:prstGeom prst="rect">
            <a:avLst/>
          </a:prstGeom>
          <a:noFill/>
          <a:ln/>
        </p:spPr>
        <p:txBody>
          <a:bodyPr wrap="square" lIns="0" tIns="0" rIns="0" bIns="0" rtlCol="0" anchor="ctr"/>
          <a:lstStyle/>
          <a:p>
            <a:pPr marL="0" indent="0">
              <a:buNone/>
            </a:pPr>
            <a:r>
              <a:rPr lang="en-US" sz="1350" dirty="0">
                <a:solidFill>
                  <a:srgbClr val="525252"/>
                </a:solidFill>
                <a:latin typeface="Arial" pitchFamily="34" charset="0"/>
                <a:ea typeface="Arial" pitchFamily="34" charset="-122"/>
                <a:cs typeface="Arial" pitchFamily="34" charset="-120"/>
              </a:rPr>
              <a:t>A companion query on family status showed the mirror image: married customers with dependents churn at just 4.2%, against 34.4% for single customers with none. Commitment at home mirrors commitment to the service.</a:t>
            </a:r>
            <a:endParaRPr lang="en-US" sz="1350" dirty="0"/>
          </a:p>
        </p:txBody>
      </p:sp>
      <p:sp>
        <p:nvSpPr>
          <p:cNvPr id="12" name="Text 9"/>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7" name="Text 10"/>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SQL IN ACTION</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Question 3 — why do they leave?</a:t>
            </a:r>
            <a:endParaRPr lang="en-US" sz="3200" dirty="0"/>
          </a:p>
        </p:txBody>
      </p:sp>
      <p:sp>
        <p:nvSpPr>
          <p:cNvPr id="4" name="Shape 2"/>
          <p:cNvSpPr/>
          <p:nvPr/>
        </p:nvSpPr>
        <p:spPr>
          <a:xfrm>
            <a:off x="548640" y="1554480"/>
            <a:ext cx="5852160" cy="2286000"/>
          </a:xfrm>
          <a:prstGeom prst="roundRect">
            <a:avLst>
              <a:gd name="adj" fmla="val 2400"/>
            </a:avLst>
          </a:prstGeom>
          <a:solidFill>
            <a:srgbClr val="0B1B2E"/>
          </a:solidFill>
          <a:ln/>
        </p:spPr>
      </p:sp>
      <p:sp>
        <p:nvSpPr>
          <p:cNvPr id="5" name="Text 3"/>
          <p:cNvSpPr/>
          <p:nvPr/>
        </p:nvSpPr>
        <p:spPr>
          <a:xfrm>
            <a:off x="713232" y="1682496"/>
            <a:ext cx="5522976" cy="2029968"/>
          </a:xfrm>
          <a:prstGeom prst="rect">
            <a:avLst/>
          </a:prstGeom>
          <a:noFill/>
          <a:ln/>
        </p:spPr>
        <p:txBody>
          <a:bodyPr wrap="square" lIns="0" tIns="0" rIns="0" bIns="0" rtlCol="0" anchor="t"/>
          <a:lstStyle/>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SELECT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Churn_Category,</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COUNT(*) AS Category_Count,</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CAST(COUNT(*) AS FLOAT) * 100</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       / SUM(COUNT(*)) OVER() AS Percentage</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FROM Telco_customer_churn_status</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WHERE Churn_Category IS NOT NULL</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GROUP BY Churn_Category</a:t>
            </a:r>
            <a:endParaRPr lang="en-US" sz="1000" dirty="0"/>
          </a:p>
          <a:p>
            <a:pPr marL="0" indent="0">
              <a:lnSpc>
                <a:spcPts val="1300"/>
              </a:lnSpc>
              <a:buNone/>
            </a:pPr>
            <a:r>
              <a:rPr lang="en-US" sz="1000" dirty="0">
                <a:solidFill>
                  <a:srgbClr val="D6E4F5"/>
                </a:solidFill>
                <a:latin typeface="Courier New" pitchFamily="34" charset="0"/>
                <a:ea typeface="Courier New" pitchFamily="34" charset="-122"/>
                <a:cs typeface="Courier New" pitchFamily="34" charset="-120"/>
              </a:rPr>
              <a:t>ORDER BY Category_Count DESC;</a:t>
            </a:r>
            <a:endParaRPr lang="en-US" sz="1000" dirty="0"/>
          </a:p>
        </p:txBody>
      </p:sp>
      <p:sp>
        <p:nvSpPr>
          <p:cNvPr id="6" name="Text 4"/>
          <p:cNvSpPr/>
          <p:nvPr/>
        </p:nvSpPr>
        <p:spPr>
          <a:xfrm>
            <a:off x="6766560" y="1554480"/>
            <a:ext cx="4846320" cy="274320"/>
          </a:xfrm>
          <a:prstGeom prst="rect">
            <a:avLst/>
          </a:prstGeom>
          <a:noFill/>
          <a:ln/>
        </p:spPr>
        <p:txBody>
          <a:bodyPr wrap="square" lIns="0" tIns="0" rIns="0" bIns="0" rtlCol="0" anchor="ctr"/>
          <a:lstStyle/>
          <a:p>
            <a:pPr marL="0" indent="0">
              <a:buNone/>
            </a:pPr>
            <a:r>
              <a:rPr lang="en-US" sz="1200" b="1" kern="0" spc="100" dirty="0">
                <a:solidFill>
                  <a:srgbClr val="0F62FE"/>
                </a:solidFill>
                <a:latin typeface="Arial" pitchFamily="34" charset="0"/>
                <a:ea typeface="Arial" pitchFamily="34" charset="-122"/>
                <a:cs typeface="Arial" pitchFamily="34" charset="-120"/>
              </a:rPr>
              <a:t>Result</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463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56032">
                <a:tc>
                  <a:txBody>
                    <a:bodyPr/>
                    <a:lstStyle/>
                    <a:p>
                      <a:pPr marL="0" indent="0">
                        <a:buNone/>
                      </a:pPr>
                      <a:r>
                        <a:rPr lang="en-US" sz="1100" b="1" dirty="0">
                          <a:solidFill>
                            <a:srgbClr val="FFFFFF"/>
                          </a:solidFill>
                          <a:latin typeface="Arial" pitchFamily="34" charset="0"/>
                          <a:ea typeface="Arial" pitchFamily="34" charset="-122"/>
                          <a:cs typeface="Arial" pitchFamily="34" charset="-120"/>
                        </a:rPr>
                        <a:t>Reason category</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Count</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Share</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0F2340"/>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Competitor</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841</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b="1" dirty="0">
                          <a:solidFill>
                            <a:srgbClr val="DA1E28"/>
                          </a:solidFill>
                          <a:latin typeface="Arial" pitchFamily="34" charset="0"/>
                          <a:ea typeface="Arial" pitchFamily="34" charset="-122"/>
                          <a:cs typeface="Arial" pitchFamily="34" charset="-120"/>
                        </a:rPr>
                        <a:t>45.0%</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Attitude</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314</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16.8%</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Dissatisfaction</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303</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16.2%</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3"/>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211</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11.3%</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1100" dirty="0">
                          <a:solidFill>
                            <a:srgbClr val="161616"/>
                          </a:solidFill>
                          <a:latin typeface="Arial" pitchFamily="34" charset="0"/>
                          <a:ea typeface="Arial" pitchFamily="34" charset="-122"/>
                          <a:cs typeface="Arial" pitchFamily="34" charset="-120"/>
                        </a:rPr>
                        <a:t>Other</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200</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tc>
                  <a:txBody>
                    <a:bodyPr/>
                    <a:lstStyle/>
                    <a:p>
                      <a:pPr marL="0" indent="0">
                        <a:buNone/>
                      </a:pPr>
                      <a:r>
                        <a:rPr lang="en-US" sz="1100" dirty="0">
                          <a:solidFill>
                            <a:srgbClr val="161616"/>
                          </a:solidFill>
                          <a:latin typeface="Arial" pitchFamily="34" charset="0"/>
                          <a:ea typeface="Arial" pitchFamily="34" charset="-122"/>
                          <a:cs typeface="Arial" pitchFamily="34" charset="-120"/>
                        </a:rPr>
                        <a:t>10.7%</a:t>
                      </a:r>
                      <a:endParaRPr lang="en-US" sz="1100" dirty="0">
                        <a:latin typeface="Arial" charset="0"/>
                        <a:ea typeface="Arial" charset="0"/>
                        <a:cs typeface="Arial" charset="0"/>
                      </a:endParaRPr>
                    </a:p>
                  </a:txBody>
                  <a:tcPr marL="50800" marR="50800" marT="50800" marB="50800" anchor="ctr">
                    <a:lnL w="6350" cap="flat" cmpd="sng" algn="ctr">
                      <a:solidFill>
                        <a:srgbClr val="D8DEE9"/>
                      </a:solidFill>
                      <a:prstDash val="solid"/>
                      <a:round/>
                      <a:headEnd type="none" w="med" len="med"/>
                      <a:tailEnd type="none" w="med" len="med"/>
                    </a:lnL>
                    <a:lnR w="6350" cap="flat" cmpd="sng" algn="ctr">
                      <a:solidFill>
                        <a:srgbClr val="D8DEE9"/>
                      </a:solidFill>
                      <a:prstDash val="solid"/>
                      <a:round/>
                      <a:headEnd type="none" w="med" len="med"/>
                      <a:tailEnd type="none" w="med" len="med"/>
                    </a:lnR>
                    <a:lnT w="6350" cap="flat" cmpd="sng" algn="ctr">
                      <a:solidFill>
                        <a:srgbClr val="D8DEE9"/>
                      </a:solidFill>
                      <a:prstDash val="solid"/>
                      <a:round/>
                      <a:headEnd type="none" w="med" len="med"/>
                      <a:tailEnd type="none" w="med" len="med"/>
                    </a:lnT>
                    <a:lnB w="6350" cap="flat" cmpd="sng" algn="ctr">
                      <a:solidFill>
                        <a:srgbClr val="D8DEE9"/>
                      </a:solidFill>
                      <a:prstDash val="solid"/>
                      <a:round/>
                      <a:headEnd type="none" w="med" len="med"/>
                      <a:tailEnd type="none" w="med" len="med"/>
                    </a:lnB>
                    <a:solidFill>
                      <a:srgbClr val="F4F6FA"/>
                    </a:solidFill>
                  </a:tcPr>
                </a:tc>
                <a:extLst>
                  <a:ext uri="{0D108BD9-81ED-4DB2-BD59-A6C34878D82A}">
                    <a16:rowId xmlns:a16="http://schemas.microsoft.com/office/drawing/2014/main" val="10005"/>
                  </a:ext>
                </a:extLst>
              </a:tr>
            </a:tbl>
          </a:graphicData>
        </a:graphic>
      </p:graphicFrame>
      <p:sp>
        <p:nvSpPr>
          <p:cNvPr id="8" name="Shape 5"/>
          <p:cNvSpPr/>
          <p:nvPr/>
        </p:nvSpPr>
        <p:spPr>
          <a:xfrm>
            <a:off x="6766560" y="3611880"/>
            <a:ext cx="4846320" cy="1188720"/>
          </a:xfrm>
          <a:prstGeom prst="roundRect">
            <a:avLst>
              <a:gd name="adj" fmla="val 4615"/>
            </a:avLst>
          </a:prstGeom>
          <a:solidFill>
            <a:srgbClr val="0F2340"/>
          </a:solidFill>
          <a:ln/>
        </p:spPr>
      </p:sp>
      <p:sp>
        <p:nvSpPr>
          <p:cNvPr id="9" name="Text 6"/>
          <p:cNvSpPr/>
          <p:nvPr/>
        </p:nvSpPr>
        <p:spPr>
          <a:xfrm>
            <a:off x="6967728" y="3721608"/>
            <a:ext cx="4443984" cy="219456"/>
          </a:xfrm>
          <a:prstGeom prst="rect">
            <a:avLst/>
          </a:prstGeom>
          <a:noFill/>
          <a:ln/>
        </p:spPr>
        <p:txBody>
          <a:bodyPr wrap="square" lIns="0" tIns="0" rIns="0" bIns="0" rtlCol="0" anchor="ctr"/>
          <a:lstStyle/>
          <a:p>
            <a:pPr marL="0" indent="0">
              <a:buNone/>
            </a:pPr>
            <a:r>
              <a:rPr lang="en-US" sz="950" b="1" kern="0" spc="150" dirty="0">
                <a:solidFill>
                  <a:srgbClr val="4589FF"/>
                </a:solidFill>
                <a:latin typeface="Arial" pitchFamily="34" charset="0"/>
                <a:ea typeface="Arial" pitchFamily="34" charset="-122"/>
                <a:cs typeface="Arial" pitchFamily="34" charset="-120"/>
              </a:rPr>
              <a:t>WHAT IT GAVE US</a:t>
            </a:r>
            <a:endParaRPr lang="en-US" sz="950" dirty="0"/>
          </a:p>
        </p:txBody>
      </p:sp>
      <p:sp>
        <p:nvSpPr>
          <p:cNvPr id="10" name="Text 7"/>
          <p:cNvSpPr/>
          <p:nvPr/>
        </p:nvSpPr>
        <p:spPr>
          <a:xfrm>
            <a:off x="6967728" y="3959352"/>
            <a:ext cx="4443984" cy="713232"/>
          </a:xfrm>
          <a:prstGeom prst="rect">
            <a:avLst/>
          </a:prstGeom>
          <a:noFill/>
          <a:ln/>
        </p:spPr>
        <p:txBody>
          <a:bodyPr wrap="square" lIns="0" tIns="0" rIns="0" bIns="0" rtlCol="0" anchor="t"/>
          <a:lstStyle/>
          <a:p>
            <a:pPr marL="0" indent="0">
              <a:buNone/>
            </a:pPr>
            <a:r>
              <a:rPr lang="en-US" sz="1250" dirty="0">
                <a:solidFill>
                  <a:srgbClr val="D3DCEA"/>
                </a:solidFill>
                <a:latin typeface="Arial" pitchFamily="34" charset="0"/>
                <a:ea typeface="Arial" pitchFamily="34" charset="-122"/>
                <a:cs typeface="Arial" pitchFamily="34" charset="-120"/>
              </a:rPr>
              <a:t>The window function gives each category's share in one pass — pointing the whole retention strategy at competitive offers.</a:t>
            </a:r>
            <a:endParaRPr lang="en-US" sz="1250" dirty="0"/>
          </a:p>
        </p:txBody>
      </p:sp>
      <p:sp>
        <p:nvSpPr>
          <p:cNvPr id="11" name="Text 8"/>
          <p:cNvSpPr/>
          <p:nvPr/>
        </p:nvSpPr>
        <p:spPr>
          <a:xfrm>
            <a:off x="548640" y="4983480"/>
            <a:ext cx="11064240" cy="731520"/>
          </a:xfrm>
          <a:prstGeom prst="rect">
            <a:avLst/>
          </a:prstGeom>
          <a:noFill/>
          <a:ln/>
        </p:spPr>
        <p:txBody>
          <a:bodyPr wrap="square" lIns="0" tIns="0" rIns="0" bIns="0" rtlCol="0" anchor="ctr"/>
          <a:lstStyle/>
          <a:p>
            <a:pPr marL="0" indent="0">
              <a:buNone/>
            </a:pPr>
            <a:r>
              <a:rPr lang="en-US" sz="1350" dirty="0">
                <a:solidFill>
                  <a:srgbClr val="525252"/>
                </a:solidFill>
                <a:latin typeface="Arial" pitchFamily="34" charset="0"/>
                <a:ea typeface="Arial" pitchFamily="34" charset="-122"/>
                <a:cs typeface="Arial" pitchFamily="34" charset="-120"/>
              </a:rPr>
              <a:t>Drilling one level deeper into Churn_Reason named the specific triggers: better devices (313 customers) and better offers (311) from competitors — which is exactly what recommendations 3 and 4 address.</a:t>
            </a:r>
            <a:endParaRPr lang="en-US" sz="1350" dirty="0"/>
          </a:p>
        </p:txBody>
      </p:sp>
      <p:sp>
        <p:nvSpPr>
          <p:cNvPr id="12" name="Text 9"/>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3" name="Text 10"/>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340"/>
        </a:solidFill>
        <a:effectLst/>
      </p:bgPr>
    </p:bg>
    <p:spTree>
      <p:nvGrpSpPr>
        <p:cNvPr id="1" name=""/>
        <p:cNvGrpSpPr/>
        <p:nvPr/>
      </p:nvGrpSpPr>
      <p:grpSpPr>
        <a:xfrm>
          <a:off x="0" y="0"/>
          <a:ext cx="0" cy="0"/>
          <a:chOff x="0" y="0"/>
          <a:chExt cx="0" cy="0"/>
        </a:xfrm>
      </p:grpSpPr>
      <p:sp>
        <p:nvSpPr>
          <p:cNvPr id="2" name="Text 0"/>
          <p:cNvSpPr/>
          <p:nvPr/>
        </p:nvSpPr>
        <p:spPr>
          <a:xfrm>
            <a:off x="822960" y="2606040"/>
            <a:ext cx="10515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What the data told us</a:t>
            </a:r>
            <a:endParaRPr lang="en-US" sz="4400" dirty="0"/>
          </a:p>
        </p:txBody>
      </p:sp>
      <p:sp>
        <p:nvSpPr>
          <p:cNvPr id="3" name="Text 1"/>
          <p:cNvSpPr/>
          <p:nvPr/>
        </p:nvSpPr>
        <p:spPr>
          <a:xfrm>
            <a:off x="822960" y="3474720"/>
            <a:ext cx="10515600" cy="411480"/>
          </a:xfrm>
          <a:prstGeom prst="rect">
            <a:avLst/>
          </a:prstGeom>
          <a:noFill/>
          <a:ln/>
        </p:spPr>
        <p:txBody>
          <a:bodyPr wrap="square" lIns="0" tIns="0" rIns="0" bIns="0" rtlCol="0" anchor="ctr"/>
          <a:lstStyle/>
          <a:p>
            <a:pPr marL="0" indent="0">
              <a:buNone/>
            </a:pPr>
            <a:r>
              <a:rPr lang="en-US" sz="1800" dirty="0">
                <a:solidFill>
                  <a:srgbClr val="4589FF"/>
                </a:solidFill>
                <a:latin typeface="Arial" pitchFamily="34" charset="0"/>
                <a:ea typeface="Arial" pitchFamily="34" charset="-122"/>
                <a:cs typeface="Arial" pitchFamily="34" charset="-120"/>
              </a:rPr>
              <a:t>Four findings that explain most of the churn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FINDING 1 · CONTRACT</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Month-to-month customers churn 18× more</a:t>
            </a:r>
            <a:endParaRPr lang="en-US" sz="3200" dirty="0"/>
          </a:p>
        </p:txBody>
      </p:sp>
      <p:graphicFrame>
        <p:nvGraphicFramePr>
          <p:cNvPr id="4" name="Chart 0"/>
          <p:cNvGraphicFramePr/>
          <p:nvPr/>
        </p:nvGraphicFramePr>
        <p:xfrm>
          <a:off x="548640" y="1600200"/>
          <a:ext cx="69494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63840" y="1600200"/>
            <a:ext cx="3749040" cy="1783080"/>
          </a:xfrm>
          <a:prstGeom prst="roundRect">
            <a:avLst>
              <a:gd name="adj" fmla="val 4103"/>
            </a:avLst>
          </a:prstGeom>
          <a:solidFill>
            <a:srgbClr val="0F2340"/>
          </a:solidFill>
          <a:ln/>
        </p:spPr>
      </p:sp>
      <p:sp>
        <p:nvSpPr>
          <p:cNvPr id="6" name="Text 3"/>
          <p:cNvSpPr/>
          <p:nvPr/>
        </p:nvSpPr>
        <p:spPr>
          <a:xfrm>
            <a:off x="8138160" y="1783080"/>
            <a:ext cx="3200400" cy="685800"/>
          </a:xfrm>
          <a:prstGeom prst="rect">
            <a:avLst/>
          </a:prstGeom>
          <a:noFill/>
          <a:ln/>
        </p:spPr>
        <p:txBody>
          <a:bodyPr wrap="square" lIns="0" tIns="0" rIns="0" bIns="0" rtlCol="0" anchor="ctr"/>
          <a:lstStyle/>
          <a:p>
            <a:pPr marL="0" indent="0">
              <a:buNone/>
            </a:pPr>
            <a:r>
              <a:rPr lang="en-US" sz="4000" b="1" dirty="0">
                <a:solidFill>
                  <a:srgbClr val="FA4D56"/>
                </a:solidFill>
                <a:latin typeface="Arial" pitchFamily="34" charset="0"/>
                <a:ea typeface="Arial" pitchFamily="34" charset="-122"/>
                <a:cs typeface="Arial" pitchFamily="34" charset="-120"/>
              </a:rPr>
              <a:t>45.8%</a:t>
            </a:r>
            <a:endParaRPr lang="en-US" sz="4000" dirty="0"/>
          </a:p>
        </p:txBody>
      </p:sp>
      <p:sp>
        <p:nvSpPr>
          <p:cNvPr id="7" name="Text 4"/>
          <p:cNvSpPr/>
          <p:nvPr/>
        </p:nvSpPr>
        <p:spPr>
          <a:xfrm>
            <a:off x="8138160" y="2514600"/>
            <a:ext cx="3200400" cy="777240"/>
          </a:xfrm>
          <a:prstGeom prst="rect">
            <a:avLst/>
          </a:prstGeom>
          <a:noFill/>
          <a:ln/>
        </p:spPr>
        <p:txBody>
          <a:bodyPr wrap="square" lIns="0" tIns="0" rIns="0" bIns="0" rtlCol="0" anchor="ctr"/>
          <a:lstStyle/>
          <a:p>
            <a:pPr marL="0" indent="0">
              <a:buNone/>
            </a:pPr>
            <a:r>
              <a:rPr lang="en-US" sz="1250" dirty="0">
                <a:solidFill>
                  <a:srgbClr val="CFD7E3"/>
                </a:solidFill>
                <a:latin typeface="Arial" pitchFamily="34" charset="0"/>
                <a:ea typeface="Arial" pitchFamily="34" charset="-122"/>
                <a:cs typeface="Arial" pitchFamily="34" charset="-120"/>
              </a:rPr>
              <a:t>of month-to-month customers left, versus just 2.5% on a two-year contract.</a:t>
            </a:r>
            <a:endParaRPr lang="en-US" sz="1250" dirty="0"/>
          </a:p>
        </p:txBody>
      </p:sp>
      <p:sp>
        <p:nvSpPr>
          <p:cNvPr id="8" name="Text 5"/>
          <p:cNvSpPr/>
          <p:nvPr/>
        </p:nvSpPr>
        <p:spPr>
          <a:xfrm>
            <a:off x="7863840" y="3657600"/>
            <a:ext cx="3749040" cy="292608"/>
          </a:xfrm>
          <a:prstGeom prst="rect">
            <a:avLst/>
          </a:prstGeom>
          <a:noFill/>
          <a:ln/>
        </p:spPr>
        <p:txBody>
          <a:bodyPr wrap="square" lIns="0" tIns="0" rIns="0" bIns="0" rtlCol="0" anchor="ctr"/>
          <a:lstStyle/>
          <a:p>
            <a:pPr marL="0" indent="0">
              <a:buNone/>
            </a:pPr>
            <a:r>
              <a:rPr lang="en-US" sz="1300" b="1" dirty="0">
                <a:solidFill>
                  <a:srgbClr val="0F62FE"/>
                </a:solidFill>
                <a:latin typeface="Arial" pitchFamily="34" charset="0"/>
                <a:ea typeface="Arial" pitchFamily="34" charset="-122"/>
                <a:cs typeface="Arial" pitchFamily="34" charset="-120"/>
              </a:rPr>
              <a:t>Why it matters</a:t>
            </a:r>
            <a:endParaRPr lang="en-US" sz="1300" dirty="0"/>
          </a:p>
        </p:txBody>
      </p:sp>
      <p:sp>
        <p:nvSpPr>
          <p:cNvPr id="9" name="Text 6"/>
          <p:cNvSpPr/>
          <p:nvPr/>
        </p:nvSpPr>
        <p:spPr>
          <a:xfrm>
            <a:off x="7863840" y="4005072"/>
            <a:ext cx="3749040" cy="1371600"/>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Commitment length is the single strongest predictor of churn in the whole dataset — and it is something the business can directly influence with pricing and offers.</a:t>
            </a:r>
            <a:endParaRPr lang="en-US" sz="1250" dirty="0"/>
          </a:p>
        </p:txBody>
      </p:sp>
      <p:sp>
        <p:nvSpPr>
          <p:cNvPr id="10" name="Text 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1" name="Text 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FINDING 2 · TENURE</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Almost half of new customers leave in year one</a:t>
            </a:r>
            <a:endParaRPr lang="en-US" sz="3200" dirty="0"/>
          </a:p>
        </p:txBody>
      </p:sp>
      <p:graphicFrame>
        <p:nvGraphicFramePr>
          <p:cNvPr id="4" name="Chart 0"/>
          <p:cNvGraphicFramePr/>
          <p:nvPr/>
        </p:nvGraphicFramePr>
        <p:xfrm>
          <a:off x="548640" y="1600200"/>
          <a:ext cx="694944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63840" y="1600200"/>
            <a:ext cx="3749040" cy="1783080"/>
          </a:xfrm>
          <a:prstGeom prst="roundRect">
            <a:avLst>
              <a:gd name="adj" fmla="val 4103"/>
            </a:avLst>
          </a:prstGeom>
          <a:solidFill>
            <a:srgbClr val="0F2340"/>
          </a:solidFill>
          <a:ln/>
        </p:spPr>
      </p:sp>
      <p:sp>
        <p:nvSpPr>
          <p:cNvPr id="6" name="Text 3"/>
          <p:cNvSpPr/>
          <p:nvPr/>
        </p:nvSpPr>
        <p:spPr>
          <a:xfrm>
            <a:off x="8138160" y="1783080"/>
            <a:ext cx="3200400" cy="685800"/>
          </a:xfrm>
          <a:prstGeom prst="rect">
            <a:avLst/>
          </a:prstGeom>
          <a:noFill/>
          <a:ln/>
        </p:spPr>
        <p:txBody>
          <a:bodyPr wrap="square" lIns="0" tIns="0" rIns="0" bIns="0" rtlCol="0" anchor="ctr"/>
          <a:lstStyle/>
          <a:p>
            <a:pPr marL="0" indent="0">
              <a:buNone/>
            </a:pPr>
            <a:r>
              <a:rPr lang="en-US" sz="4000" b="1" dirty="0">
                <a:solidFill>
                  <a:srgbClr val="FA4D56"/>
                </a:solidFill>
                <a:latin typeface="Arial" pitchFamily="34" charset="0"/>
                <a:ea typeface="Arial" pitchFamily="34" charset="-122"/>
                <a:cs typeface="Arial" pitchFamily="34" charset="-120"/>
              </a:rPr>
              <a:t>47.4%</a:t>
            </a:r>
            <a:endParaRPr lang="en-US" sz="4000" dirty="0"/>
          </a:p>
        </p:txBody>
      </p:sp>
      <p:sp>
        <p:nvSpPr>
          <p:cNvPr id="7" name="Text 4"/>
          <p:cNvSpPr/>
          <p:nvPr/>
        </p:nvSpPr>
        <p:spPr>
          <a:xfrm>
            <a:off x="8138160" y="2514600"/>
            <a:ext cx="3200400" cy="777240"/>
          </a:xfrm>
          <a:prstGeom prst="rect">
            <a:avLst/>
          </a:prstGeom>
          <a:noFill/>
          <a:ln/>
        </p:spPr>
        <p:txBody>
          <a:bodyPr wrap="square" lIns="0" tIns="0" rIns="0" bIns="0" rtlCol="0" anchor="ctr"/>
          <a:lstStyle/>
          <a:p>
            <a:pPr marL="0" indent="0">
              <a:buNone/>
            </a:pPr>
            <a:r>
              <a:rPr lang="en-US" sz="1250" dirty="0">
                <a:solidFill>
                  <a:srgbClr val="CFD7E3"/>
                </a:solidFill>
                <a:latin typeface="Arial" pitchFamily="34" charset="0"/>
                <a:ea typeface="Arial" pitchFamily="34" charset="-122"/>
                <a:cs typeface="Arial" pitchFamily="34" charset="-120"/>
              </a:rPr>
              <a:t>churn in the first 12 months — falling to 9.5% after four years.</a:t>
            </a:r>
            <a:endParaRPr lang="en-US" sz="1250" dirty="0"/>
          </a:p>
        </p:txBody>
      </p:sp>
      <p:sp>
        <p:nvSpPr>
          <p:cNvPr id="8" name="Text 5"/>
          <p:cNvSpPr/>
          <p:nvPr/>
        </p:nvSpPr>
        <p:spPr>
          <a:xfrm>
            <a:off x="7863840" y="3657600"/>
            <a:ext cx="3749040" cy="292608"/>
          </a:xfrm>
          <a:prstGeom prst="rect">
            <a:avLst/>
          </a:prstGeom>
          <a:noFill/>
          <a:ln/>
        </p:spPr>
        <p:txBody>
          <a:bodyPr wrap="square" lIns="0" tIns="0" rIns="0" bIns="0" rtlCol="0" anchor="ctr"/>
          <a:lstStyle/>
          <a:p>
            <a:pPr marL="0" indent="0">
              <a:buNone/>
            </a:pPr>
            <a:r>
              <a:rPr lang="en-US" sz="1300" b="1" dirty="0">
                <a:solidFill>
                  <a:srgbClr val="0F62FE"/>
                </a:solidFill>
                <a:latin typeface="Arial" pitchFamily="34" charset="0"/>
                <a:ea typeface="Arial" pitchFamily="34" charset="-122"/>
                <a:cs typeface="Arial" pitchFamily="34" charset="-120"/>
              </a:rPr>
              <a:t>Why it matters</a:t>
            </a:r>
            <a:endParaRPr lang="en-US" sz="1300" dirty="0"/>
          </a:p>
        </p:txBody>
      </p:sp>
      <p:sp>
        <p:nvSpPr>
          <p:cNvPr id="9" name="Text 6"/>
          <p:cNvSpPr/>
          <p:nvPr/>
        </p:nvSpPr>
        <p:spPr>
          <a:xfrm>
            <a:off x="7863840" y="4005072"/>
            <a:ext cx="3749040" cy="1371600"/>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Risk is front-loaded. If a customer survives the first year, they are far more likely to stay — which makes onboarding the highest-leverage moment.</a:t>
            </a:r>
            <a:endParaRPr lang="en-US" sz="1250" dirty="0"/>
          </a:p>
        </p:txBody>
      </p:sp>
      <p:sp>
        <p:nvSpPr>
          <p:cNvPr id="10" name="Text 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1" name="Text 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FINDING 3 · REASONS</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Competition drives nearly half of all churn</a:t>
            </a:r>
            <a:endParaRPr lang="en-US" sz="3200" dirty="0"/>
          </a:p>
        </p:txBody>
      </p:sp>
      <p:graphicFrame>
        <p:nvGraphicFramePr>
          <p:cNvPr id="4" name="Chart 0"/>
          <p:cNvGraphicFramePr/>
          <p:nvPr/>
        </p:nvGraphicFramePr>
        <p:xfrm>
          <a:off x="548640" y="1600200"/>
          <a:ext cx="5943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58000" y="1691640"/>
            <a:ext cx="4754880" cy="1097280"/>
          </a:xfrm>
          <a:prstGeom prst="roundRect">
            <a:avLst>
              <a:gd name="adj" fmla="val 6667"/>
            </a:avLst>
          </a:prstGeom>
          <a:solidFill>
            <a:srgbClr val="F4F6FA"/>
          </a:solidFill>
          <a:ln w="12700">
            <a:solidFill>
              <a:srgbClr val="E4E9F2"/>
            </a:solidFill>
            <a:prstDash val="solid"/>
          </a:ln>
        </p:spPr>
      </p:sp>
      <p:sp>
        <p:nvSpPr>
          <p:cNvPr id="6" name="Text 3"/>
          <p:cNvSpPr/>
          <p:nvPr/>
        </p:nvSpPr>
        <p:spPr>
          <a:xfrm>
            <a:off x="7132320" y="1801368"/>
            <a:ext cx="4206240" cy="457200"/>
          </a:xfrm>
          <a:prstGeom prst="rect">
            <a:avLst/>
          </a:prstGeom>
          <a:noFill/>
          <a:ln/>
        </p:spPr>
        <p:txBody>
          <a:bodyPr wrap="square" lIns="0" tIns="0" rIns="0" bIns="0" rtlCol="0" anchor="ctr"/>
          <a:lstStyle/>
          <a:p>
            <a:pPr marL="0" indent="0">
              <a:buNone/>
            </a:pPr>
            <a:r>
              <a:rPr lang="en-US" sz="2400" b="1" dirty="0">
                <a:solidFill>
                  <a:srgbClr val="DA1E28"/>
                </a:solidFill>
                <a:latin typeface="Arial" pitchFamily="34" charset="0"/>
                <a:ea typeface="Arial" pitchFamily="34" charset="-122"/>
                <a:cs typeface="Arial" pitchFamily="34" charset="-120"/>
              </a:rPr>
              <a:t>40.7%</a:t>
            </a:r>
            <a:endParaRPr lang="en-US" sz="2400" dirty="0"/>
          </a:p>
        </p:txBody>
      </p:sp>
      <p:sp>
        <p:nvSpPr>
          <p:cNvPr id="7" name="Text 4"/>
          <p:cNvSpPr/>
          <p:nvPr/>
        </p:nvSpPr>
        <p:spPr>
          <a:xfrm>
            <a:off x="7132320" y="2258568"/>
            <a:ext cx="4206240" cy="45720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of fiber customers churn — and they are 66% of all churners</a:t>
            </a:r>
            <a:endParaRPr lang="en-US" sz="1200" dirty="0"/>
          </a:p>
        </p:txBody>
      </p:sp>
      <p:sp>
        <p:nvSpPr>
          <p:cNvPr id="8" name="Shape 5"/>
          <p:cNvSpPr/>
          <p:nvPr/>
        </p:nvSpPr>
        <p:spPr>
          <a:xfrm>
            <a:off x="6858000" y="2971800"/>
            <a:ext cx="4754880" cy="1097280"/>
          </a:xfrm>
          <a:prstGeom prst="roundRect">
            <a:avLst>
              <a:gd name="adj" fmla="val 6667"/>
            </a:avLst>
          </a:prstGeom>
          <a:solidFill>
            <a:srgbClr val="F4F6FA"/>
          </a:solidFill>
          <a:ln w="12700">
            <a:solidFill>
              <a:srgbClr val="E4E9F2"/>
            </a:solidFill>
            <a:prstDash val="solid"/>
          </a:ln>
        </p:spPr>
      </p:sp>
      <p:sp>
        <p:nvSpPr>
          <p:cNvPr id="9" name="Text 6"/>
          <p:cNvSpPr/>
          <p:nvPr/>
        </p:nvSpPr>
        <p:spPr>
          <a:xfrm>
            <a:off x="7132320" y="3081528"/>
            <a:ext cx="4206240" cy="457200"/>
          </a:xfrm>
          <a:prstGeom prst="rect">
            <a:avLst/>
          </a:prstGeom>
          <a:noFill/>
          <a:ln/>
        </p:spPr>
        <p:txBody>
          <a:bodyPr wrap="square" lIns="0" tIns="0" rIns="0" bIns="0" rtlCol="0" anchor="ctr"/>
          <a:lstStyle/>
          <a:p>
            <a:pPr marL="0" indent="0">
              <a:buNone/>
            </a:pPr>
            <a:r>
              <a:rPr lang="en-US" sz="2400" b="1" dirty="0">
                <a:solidFill>
                  <a:srgbClr val="DA1E28"/>
                </a:solidFill>
                <a:latin typeface="Arial" pitchFamily="34" charset="0"/>
                <a:ea typeface="Arial" pitchFamily="34" charset="-122"/>
                <a:cs typeface="Arial" pitchFamily="34" charset="-120"/>
              </a:rPr>
              <a:t>33.4%</a:t>
            </a:r>
            <a:endParaRPr lang="en-US" sz="2400" dirty="0"/>
          </a:p>
        </p:txBody>
      </p:sp>
      <p:sp>
        <p:nvSpPr>
          <p:cNvPr id="10" name="Text 7"/>
          <p:cNvSpPr/>
          <p:nvPr/>
        </p:nvSpPr>
        <p:spPr>
          <a:xfrm>
            <a:off x="7132320" y="3538728"/>
            <a:ext cx="4206240" cy="45720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churn with no security and no tech support, versus 9% with both</a:t>
            </a:r>
            <a:endParaRPr lang="en-US" sz="1200" dirty="0"/>
          </a:p>
        </p:txBody>
      </p:sp>
      <p:sp>
        <p:nvSpPr>
          <p:cNvPr id="11" name="Shape 8"/>
          <p:cNvSpPr/>
          <p:nvPr/>
        </p:nvSpPr>
        <p:spPr>
          <a:xfrm>
            <a:off x="6858000" y="4251960"/>
            <a:ext cx="4754880" cy="1097280"/>
          </a:xfrm>
          <a:prstGeom prst="roundRect">
            <a:avLst>
              <a:gd name="adj" fmla="val 6667"/>
            </a:avLst>
          </a:prstGeom>
          <a:solidFill>
            <a:srgbClr val="F4F6FA"/>
          </a:solidFill>
          <a:ln w="12700">
            <a:solidFill>
              <a:srgbClr val="E4E9F2"/>
            </a:solidFill>
            <a:prstDash val="solid"/>
          </a:ln>
        </p:spPr>
      </p:sp>
      <p:sp>
        <p:nvSpPr>
          <p:cNvPr id="12" name="Text 9"/>
          <p:cNvSpPr/>
          <p:nvPr/>
        </p:nvSpPr>
        <p:spPr>
          <a:xfrm>
            <a:off x="7132320" y="4361688"/>
            <a:ext cx="4206240" cy="457200"/>
          </a:xfrm>
          <a:prstGeom prst="rect">
            <a:avLst/>
          </a:prstGeom>
          <a:noFill/>
          <a:ln/>
        </p:spPr>
        <p:txBody>
          <a:bodyPr wrap="square" lIns="0" tIns="0" rIns="0" bIns="0" rtlCol="0" anchor="ctr"/>
          <a:lstStyle/>
          <a:p>
            <a:pPr marL="0" indent="0">
              <a:buNone/>
            </a:pPr>
            <a:r>
              <a:rPr lang="en-US" sz="2400" b="1" dirty="0">
                <a:solidFill>
                  <a:srgbClr val="0F2340"/>
                </a:solidFill>
                <a:latin typeface="Arial" pitchFamily="34" charset="0"/>
                <a:ea typeface="Arial" pitchFamily="34" charset="-122"/>
                <a:cs typeface="Arial" pitchFamily="34" charset="-120"/>
              </a:rPr>
              <a:t>$74 vs $63</a:t>
            </a:r>
            <a:endParaRPr lang="en-US" sz="2400" dirty="0"/>
          </a:p>
        </p:txBody>
      </p:sp>
      <p:sp>
        <p:nvSpPr>
          <p:cNvPr id="13" name="Text 10"/>
          <p:cNvSpPr/>
          <p:nvPr/>
        </p:nvSpPr>
        <p:spPr>
          <a:xfrm>
            <a:off x="7132320" y="4818888"/>
            <a:ext cx="4206240" cy="457200"/>
          </a:xfrm>
          <a:prstGeom prst="rect">
            <a:avLst/>
          </a:prstGeom>
          <a:noFill/>
          <a:ln/>
        </p:spPr>
        <p:txBody>
          <a:bodyPr wrap="square" lIns="0" tIns="0" rIns="0" bIns="0" rtlCol="0" anchor="ctr"/>
          <a:lstStyle/>
          <a:p>
            <a:pPr marL="0" indent="0">
              <a:buNone/>
            </a:pPr>
            <a:r>
              <a:rPr lang="en-US" sz="1200" dirty="0">
                <a:solidFill>
                  <a:srgbClr val="525252"/>
                </a:solidFill>
                <a:latin typeface="Arial" pitchFamily="34" charset="0"/>
                <a:ea typeface="Arial" pitchFamily="34" charset="-122"/>
                <a:cs typeface="Arial" pitchFamily="34" charset="-120"/>
              </a:rPr>
              <a:t>average monthly bill: churners pay more than those who stay</a:t>
            </a:r>
            <a:endParaRPr lang="en-US" sz="1200" dirty="0"/>
          </a:p>
        </p:txBody>
      </p:sp>
      <p:sp>
        <p:nvSpPr>
          <p:cNvPr id="14" name="Text 11"/>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5" name="Text 12"/>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FINDING 4 · GEOGRAPHY</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Churn is concentrated in Southern California</a:t>
            </a:r>
            <a:endParaRPr lang="en-US" sz="3200" dirty="0"/>
          </a:p>
        </p:txBody>
      </p:sp>
      <p:pic>
        <p:nvPicPr>
          <p:cNvPr id="4" name="Image 0" descr="/home/claude/deckimg/dash3.png"/>
          <p:cNvPicPr>
            <a:picLocks noChangeAspect="1"/>
          </p:cNvPicPr>
          <p:nvPr/>
        </p:nvPicPr>
        <p:blipFill>
          <a:blip r:embed="rId3"/>
          <a:stretch>
            <a:fillRect/>
          </a:stretch>
        </p:blipFill>
        <p:spPr>
          <a:xfrm>
            <a:off x="548640" y="1536192"/>
            <a:ext cx="7498080" cy="3977640"/>
          </a:xfrm>
          <a:prstGeom prst="rect">
            <a:avLst/>
          </a:prstGeom>
        </p:spPr>
      </p:pic>
      <p:sp>
        <p:nvSpPr>
          <p:cNvPr id="5" name="Text 2"/>
          <p:cNvSpPr/>
          <p:nvPr/>
        </p:nvSpPr>
        <p:spPr>
          <a:xfrm>
            <a:off x="8321040" y="1600200"/>
            <a:ext cx="3291840" cy="320040"/>
          </a:xfrm>
          <a:prstGeom prst="rect">
            <a:avLst/>
          </a:prstGeom>
          <a:noFill/>
          <a:ln/>
        </p:spPr>
        <p:txBody>
          <a:bodyPr wrap="square" lIns="0" tIns="0" rIns="0" bIns="0" rtlCol="0" anchor="ctr"/>
          <a:lstStyle/>
          <a:p>
            <a:pPr marL="0" indent="0">
              <a:buNone/>
            </a:pPr>
            <a:r>
              <a:rPr lang="en-US" sz="1400" b="1" dirty="0">
                <a:solidFill>
                  <a:srgbClr val="0F2340"/>
                </a:solidFill>
                <a:latin typeface="Arial" pitchFamily="34" charset="0"/>
                <a:ea typeface="Arial" pitchFamily="34" charset="-122"/>
                <a:cs typeface="Arial" pitchFamily="34" charset="-120"/>
              </a:rPr>
              <a:t>Highest-churn cities</a:t>
            </a:r>
            <a:endParaRPr lang="en-US" sz="1400" dirty="0"/>
          </a:p>
        </p:txBody>
      </p:sp>
      <p:sp>
        <p:nvSpPr>
          <p:cNvPr id="6" name="Shape 3"/>
          <p:cNvSpPr/>
          <p:nvPr/>
        </p:nvSpPr>
        <p:spPr>
          <a:xfrm>
            <a:off x="8321040" y="2057400"/>
            <a:ext cx="3291840" cy="548640"/>
          </a:xfrm>
          <a:prstGeom prst="roundRect">
            <a:avLst>
              <a:gd name="adj" fmla="val 10000"/>
            </a:avLst>
          </a:prstGeom>
          <a:solidFill>
            <a:srgbClr val="F4F6FA"/>
          </a:solidFill>
          <a:ln w="12700">
            <a:solidFill>
              <a:srgbClr val="E4E9F2"/>
            </a:solidFill>
            <a:prstDash val="solid"/>
          </a:ln>
        </p:spPr>
      </p:sp>
      <p:sp>
        <p:nvSpPr>
          <p:cNvPr id="7" name="Text 4"/>
          <p:cNvSpPr/>
          <p:nvPr/>
        </p:nvSpPr>
        <p:spPr>
          <a:xfrm>
            <a:off x="8549640" y="2057400"/>
            <a:ext cx="1920240" cy="548640"/>
          </a:xfrm>
          <a:prstGeom prst="rect">
            <a:avLst/>
          </a:prstGeom>
          <a:noFill/>
          <a:ln/>
        </p:spPr>
        <p:txBody>
          <a:bodyPr wrap="square" lIns="0" tIns="0" rIns="0" bIns="0" rtlCol="0" anchor="ctr"/>
          <a:lstStyle/>
          <a:p>
            <a:pPr marL="0" indent="0">
              <a:buNone/>
            </a:pPr>
            <a:r>
              <a:rPr lang="en-US" sz="1300" dirty="0">
                <a:solidFill>
                  <a:srgbClr val="0F2340"/>
                </a:solidFill>
                <a:latin typeface="Arial" pitchFamily="34" charset="0"/>
                <a:ea typeface="Arial" pitchFamily="34" charset="-122"/>
                <a:cs typeface="Arial" pitchFamily="34" charset="-120"/>
              </a:rPr>
              <a:t>San Diego</a:t>
            </a:r>
            <a:endParaRPr lang="en-US" sz="1300" dirty="0"/>
          </a:p>
        </p:txBody>
      </p:sp>
      <p:sp>
        <p:nvSpPr>
          <p:cNvPr id="8" name="Text 5"/>
          <p:cNvSpPr/>
          <p:nvPr/>
        </p:nvSpPr>
        <p:spPr>
          <a:xfrm>
            <a:off x="10058400" y="2057400"/>
            <a:ext cx="1325880" cy="548640"/>
          </a:xfrm>
          <a:prstGeom prst="rect">
            <a:avLst/>
          </a:prstGeom>
          <a:noFill/>
          <a:ln/>
        </p:spPr>
        <p:txBody>
          <a:bodyPr wrap="square" lIns="0" tIns="0" rIns="0" bIns="0" rtlCol="0" anchor="ctr"/>
          <a:lstStyle/>
          <a:p>
            <a:pPr marL="0" indent="0" algn="r">
              <a:buNone/>
            </a:pPr>
            <a:r>
              <a:rPr lang="en-US" sz="1500" b="1" dirty="0">
                <a:solidFill>
                  <a:srgbClr val="DA1E28"/>
                </a:solidFill>
                <a:latin typeface="Arial" pitchFamily="34" charset="0"/>
                <a:ea typeface="Arial" pitchFamily="34" charset="-122"/>
                <a:cs typeface="Arial" pitchFamily="34" charset="-120"/>
              </a:rPr>
              <a:t>64.9%</a:t>
            </a:r>
            <a:endParaRPr lang="en-US" sz="1500" dirty="0"/>
          </a:p>
        </p:txBody>
      </p:sp>
      <p:sp>
        <p:nvSpPr>
          <p:cNvPr id="9" name="Shape 6"/>
          <p:cNvSpPr/>
          <p:nvPr/>
        </p:nvSpPr>
        <p:spPr>
          <a:xfrm>
            <a:off x="8321040" y="2715768"/>
            <a:ext cx="3291840" cy="548640"/>
          </a:xfrm>
          <a:prstGeom prst="roundRect">
            <a:avLst>
              <a:gd name="adj" fmla="val 10000"/>
            </a:avLst>
          </a:prstGeom>
          <a:solidFill>
            <a:srgbClr val="F4F6FA"/>
          </a:solidFill>
          <a:ln w="12700">
            <a:solidFill>
              <a:srgbClr val="E4E9F2"/>
            </a:solidFill>
            <a:prstDash val="solid"/>
          </a:ln>
        </p:spPr>
      </p:sp>
      <p:sp>
        <p:nvSpPr>
          <p:cNvPr id="10" name="Text 7"/>
          <p:cNvSpPr/>
          <p:nvPr/>
        </p:nvSpPr>
        <p:spPr>
          <a:xfrm>
            <a:off x="8549640" y="2715768"/>
            <a:ext cx="1920240" cy="548640"/>
          </a:xfrm>
          <a:prstGeom prst="rect">
            <a:avLst/>
          </a:prstGeom>
          <a:noFill/>
          <a:ln/>
        </p:spPr>
        <p:txBody>
          <a:bodyPr wrap="square" lIns="0" tIns="0" rIns="0" bIns="0" rtlCol="0" anchor="ctr"/>
          <a:lstStyle/>
          <a:p>
            <a:pPr marL="0" indent="0">
              <a:buNone/>
            </a:pPr>
            <a:r>
              <a:rPr lang="en-US" sz="1300" dirty="0">
                <a:solidFill>
                  <a:srgbClr val="0F2340"/>
                </a:solidFill>
                <a:latin typeface="Arial" pitchFamily="34" charset="0"/>
                <a:ea typeface="Arial" pitchFamily="34" charset="-122"/>
                <a:cs typeface="Arial" pitchFamily="34" charset="-120"/>
              </a:rPr>
              <a:t>Fallbrook</a:t>
            </a:r>
            <a:endParaRPr lang="en-US" sz="1300" dirty="0"/>
          </a:p>
        </p:txBody>
      </p:sp>
      <p:sp>
        <p:nvSpPr>
          <p:cNvPr id="11" name="Text 8"/>
          <p:cNvSpPr/>
          <p:nvPr/>
        </p:nvSpPr>
        <p:spPr>
          <a:xfrm>
            <a:off x="10058400" y="2715768"/>
            <a:ext cx="1325880" cy="548640"/>
          </a:xfrm>
          <a:prstGeom prst="rect">
            <a:avLst/>
          </a:prstGeom>
          <a:noFill/>
          <a:ln/>
        </p:spPr>
        <p:txBody>
          <a:bodyPr wrap="square" lIns="0" tIns="0" rIns="0" bIns="0" rtlCol="0" anchor="ctr"/>
          <a:lstStyle/>
          <a:p>
            <a:pPr marL="0" indent="0" algn="r">
              <a:buNone/>
            </a:pPr>
            <a:r>
              <a:rPr lang="en-US" sz="1500" b="1" dirty="0">
                <a:solidFill>
                  <a:srgbClr val="DA1E28"/>
                </a:solidFill>
                <a:latin typeface="Arial" pitchFamily="34" charset="0"/>
                <a:ea typeface="Arial" pitchFamily="34" charset="-122"/>
                <a:cs typeface="Arial" pitchFamily="34" charset="-120"/>
              </a:rPr>
              <a:t>60.5%</a:t>
            </a:r>
            <a:endParaRPr lang="en-US" sz="1500" dirty="0"/>
          </a:p>
        </p:txBody>
      </p:sp>
      <p:sp>
        <p:nvSpPr>
          <p:cNvPr id="12" name="Shape 9"/>
          <p:cNvSpPr/>
          <p:nvPr/>
        </p:nvSpPr>
        <p:spPr>
          <a:xfrm>
            <a:off x="8321040" y="3374136"/>
            <a:ext cx="3291840" cy="548640"/>
          </a:xfrm>
          <a:prstGeom prst="roundRect">
            <a:avLst>
              <a:gd name="adj" fmla="val 10000"/>
            </a:avLst>
          </a:prstGeom>
          <a:solidFill>
            <a:srgbClr val="F4F6FA"/>
          </a:solidFill>
          <a:ln w="12700">
            <a:solidFill>
              <a:srgbClr val="E4E9F2"/>
            </a:solidFill>
            <a:prstDash val="solid"/>
          </a:ln>
        </p:spPr>
      </p:sp>
      <p:sp>
        <p:nvSpPr>
          <p:cNvPr id="13" name="Text 10"/>
          <p:cNvSpPr/>
          <p:nvPr/>
        </p:nvSpPr>
        <p:spPr>
          <a:xfrm>
            <a:off x="8549640" y="3374136"/>
            <a:ext cx="1920240" cy="548640"/>
          </a:xfrm>
          <a:prstGeom prst="rect">
            <a:avLst/>
          </a:prstGeom>
          <a:noFill/>
          <a:ln/>
        </p:spPr>
        <p:txBody>
          <a:bodyPr wrap="square" lIns="0" tIns="0" rIns="0" bIns="0" rtlCol="0" anchor="ctr"/>
          <a:lstStyle/>
          <a:p>
            <a:pPr marL="0" indent="0">
              <a:buNone/>
            </a:pPr>
            <a:r>
              <a:rPr lang="en-US" sz="1300" dirty="0">
                <a:solidFill>
                  <a:srgbClr val="0F2340"/>
                </a:solidFill>
                <a:latin typeface="Arial" pitchFamily="34" charset="0"/>
                <a:ea typeface="Arial" pitchFamily="34" charset="-122"/>
                <a:cs typeface="Arial" pitchFamily="34" charset="-120"/>
              </a:rPr>
              <a:t>Temecula</a:t>
            </a:r>
            <a:endParaRPr lang="en-US" sz="1300" dirty="0"/>
          </a:p>
        </p:txBody>
      </p:sp>
      <p:sp>
        <p:nvSpPr>
          <p:cNvPr id="14" name="Text 11"/>
          <p:cNvSpPr/>
          <p:nvPr/>
        </p:nvSpPr>
        <p:spPr>
          <a:xfrm>
            <a:off x="10058400" y="3374136"/>
            <a:ext cx="1325880" cy="548640"/>
          </a:xfrm>
          <a:prstGeom prst="rect">
            <a:avLst/>
          </a:prstGeom>
          <a:noFill/>
          <a:ln/>
        </p:spPr>
        <p:txBody>
          <a:bodyPr wrap="square" lIns="0" tIns="0" rIns="0" bIns="0" rtlCol="0" anchor="ctr"/>
          <a:lstStyle/>
          <a:p>
            <a:pPr marL="0" indent="0" algn="r">
              <a:buNone/>
            </a:pPr>
            <a:r>
              <a:rPr lang="en-US" sz="1500" b="1" dirty="0">
                <a:solidFill>
                  <a:srgbClr val="DA1E28"/>
                </a:solidFill>
                <a:latin typeface="Arial" pitchFamily="34" charset="0"/>
                <a:ea typeface="Arial" pitchFamily="34" charset="-122"/>
                <a:cs typeface="Arial" pitchFamily="34" charset="-120"/>
              </a:rPr>
              <a:t>57.9%</a:t>
            </a:r>
            <a:endParaRPr lang="en-US" sz="1500" dirty="0"/>
          </a:p>
        </p:txBody>
      </p:sp>
      <p:sp>
        <p:nvSpPr>
          <p:cNvPr id="15" name="Text 12"/>
          <p:cNvSpPr/>
          <p:nvPr/>
        </p:nvSpPr>
        <p:spPr>
          <a:xfrm>
            <a:off x="8321040" y="4206240"/>
            <a:ext cx="3291840" cy="1280160"/>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High-density areas churn at 30.2%, compared with 24.5% in low-density areas — retention effort should be targeted, not uniform.</a:t>
            </a:r>
            <a:endParaRPr lang="en-US" sz="1250" dirty="0"/>
          </a:p>
        </p:txBody>
      </p:sp>
      <p:sp>
        <p:nvSpPr>
          <p:cNvPr id="16" name="Text 13"/>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7" name="Text 14"/>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THE DELIVERABLE</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Four connected dashboards, one narrative</a:t>
            </a:r>
            <a:endParaRPr lang="en-US" sz="3200" dirty="0"/>
          </a:p>
        </p:txBody>
      </p:sp>
      <p:pic>
        <p:nvPicPr>
          <p:cNvPr id="4" name="Image 0" descr="/home/claude/deckimg/dash1.png"/>
          <p:cNvPicPr>
            <a:picLocks noChangeAspect="1"/>
          </p:cNvPicPr>
          <p:nvPr/>
        </p:nvPicPr>
        <p:blipFill>
          <a:blip r:embed="rId3"/>
          <a:stretch>
            <a:fillRect/>
          </a:stretch>
        </p:blipFill>
        <p:spPr>
          <a:xfrm>
            <a:off x="548640" y="1572768"/>
            <a:ext cx="5120640" cy="1773936"/>
          </a:xfrm>
          <a:prstGeom prst="rect">
            <a:avLst/>
          </a:prstGeom>
        </p:spPr>
      </p:pic>
      <p:sp>
        <p:nvSpPr>
          <p:cNvPr id="5" name="Text 2"/>
          <p:cNvSpPr/>
          <p:nvPr/>
        </p:nvSpPr>
        <p:spPr>
          <a:xfrm>
            <a:off x="548640" y="3383280"/>
            <a:ext cx="5120640" cy="274320"/>
          </a:xfrm>
          <a:prstGeom prst="rect">
            <a:avLst/>
          </a:prstGeom>
          <a:noFill/>
          <a:ln/>
        </p:spPr>
        <p:txBody>
          <a:bodyPr wrap="square" lIns="0" tIns="0" rIns="0" bIns="0" rtlCol="0" anchor="ctr"/>
          <a:lstStyle/>
          <a:p>
            <a:pPr marL="0" indent="0">
              <a:buNone/>
            </a:pPr>
            <a:r>
              <a:rPr lang="en-US" sz="1250" b="1" dirty="0">
                <a:solidFill>
                  <a:srgbClr val="0F2340"/>
                </a:solidFill>
                <a:latin typeface="Arial" pitchFamily="34" charset="0"/>
                <a:ea typeface="Arial" pitchFamily="34" charset="-122"/>
                <a:cs typeface="Arial" pitchFamily="34" charset="-120"/>
              </a:rPr>
              <a:t>Overview</a:t>
            </a:r>
            <a:endParaRPr lang="en-US" sz="1250" dirty="0"/>
          </a:p>
        </p:txBody>
      </p:sp>
      <p:pic>
        <p:nvPicPr>
          <p:cNvPr id="6" name="Image 1" descr="/home/claude/deckimg/dash2.png"/>
          <p:cNvPicPr>
            <a:picLocks noChangeAspect="1"/>
          </p:cNvPicPr>
          <p:nvPr/>
        </p:nvPicPr>
        <p:blipFill>
          <a:blip r:embed="rId4"/>
          <a:stretch>
            <a:fillRect/>
          </a:stretch>
        </p:blipFill>
        <p:spPr>
          <a:xfrm>
            <a:off x="6263640" y="1572768"/>
            <a:ext cx="5120640" cy="1773936"/>
          </a:xfrm>
          <a:prstGeom prst="rect">
            <a:avLst/>
          </a:prstGeom>
        </p:spPr>
      </p:pic>
      <p:sp>
        <p:nvSpPr>
          <p:cNvPr id="7" name="Text 3"/>
          <p:cNvSpPr/>
          <p:nvPr/>
        </p:nvSpPr>
        <p:spPr>
          <a:xfrm>
            <a:off x="6263640" y="3383280"/>
            <a:ext cx="5120640" cy="274320"/>
          </a:xfrm>
          <a:prstGeom prst="rect">
            <a:avLst/>
          </a:prstGeom>
          <a:noFill/>
          <a:ln/>
        </p:spPr>
        <p:txBody>
          <a:bodyPr wrap="square" lIns="0" tIns="0" rIns="0" bIns="0" rtlCol="0" anchor="ctr"/>
          <a:lstStyle/>
          <a:p>
            <a:pPr marL="0" indent="0">
              <a:buNone/>
            </a:pPr>
            <a:r>
              <a:rPr lang="en-US" sz="1250" b="1" dirty="0">
                <a:solidFill>
                  <a:srgbClr val="0F2340"/>
                </a:solidFill>
                <a:latin typeface="Arial" pitchFamily="34" charset="0"/>
                <a:ea typeface="Arial" pitchFamily="34" charset="-122"/>
                <a:cs typeface="Arial" pitchFamily="34" charset="-120"/>
              </a:rPr>
              <a:t>Why they churn</a:t>
            </a:r>
            <a:endParaRPr lang="en-US" sz="1250" dirty="0"/>
          </a:p>
        </p:txBody>
      </p:sp>
      <p:pic>
        <p:nvPicPr>
          <p:cNvPr id="8" name="Image 2" descr="/home/claude/deckimg/dash3.png"/>
          <p:cNvPicPr>
            <a:picLocks noChangeAspect="1"/>
          </p:cNvPicPr>
          <p:nvPr/>
        </p:nvPicPr>
        <p:blipFill>
          <a:blip r:embed="rId5"/>
          <a:stretch>
            <a:fillRect/>
          </a:stretch>
        </p:blipFill>
        <p:spPr>
          <a:xfrm>
            <a:off x="548640" y="3813048"/>
            <a:ext cx="5120640" cy="1773936"/>
          </a:xfrm>
          <a:prstGeom prst="rect">
            <a:avLst/>
          </a:prstGeom>
        </p:spPr>
      </p:pic>
      <p:sp>
        <p:nvSpPr>
          <p:cNvPr id="9" name="Text 4"/>
          <p:cNvSpPr/>
          <p:nvPr/>
        </p:nvSpPr>
        <p:spPr>
          <a:xfrm>
            <a:off x="548640" y="5623560"/>
            <a:ext cx="5120640" cy="274320"/>
          </a:xfrm>
          <a:prstGeom prst="rect">
            <a:avLst/>
          </a:prstGeom>
          <a:noFill/>
          <a:ln/>
        </p:spPr>
        <p:txBody>
          <a:bodyPr wrap="square" lIns="0" tIns="0" rIns="0" bIns="0" rtlCol="0" anchor="ctr"/>
          <a:lstStyle/>
          <a:p>
            <a:pPr marL="0" indent="0">
              <a:buNone/>
            </a:pPr>
            <a:r>
              <a:rPr lang="en-US" sz="1250" b="1" dirty="0">
                <a:solidFill>
                  <a:srgbClr val="0F2340"/>
                </a:solidFill>
                <a:latin typeface="Arial" pitchFamily="34" charset="0"/>
                <a:ea typeface="Arial" pitchFamily="34" charset="-122"/>
                <a:cs typeface="Arial" pitchFamily="34" charset="-120"/>
              </a:rPr>
              <a:t>Where they churn</a:t>
            </a:r>
            <a:endParaRPr lang="en-US" sz="1250" dirty="0"/>
          </a:p>
        </p:txBody>
      </p:sp>
      <p:pic>
        <p:nvPicPr>
          <p:cNvPr id="10" name="Image 3" descr="/home/claude/deckimg/dash4.png"/>
          <p:cNvPicPr>
            <a:picLocks noChangeAspect="1"/>
          </p:cNvPicPr>
          <p:nvPr/>
        </p:nvPicPr>
        <p:blipFill>
          <a:blip r:embed="rId6"/>
          <a:stretch>
            <a:fillRect/>
          </a:stretch>
        </p:blipFill>
        <p:spPr>
          <a:xfrm>
            <a:off x="6263640" y="3813048"/>
            <a:ext cx="5120640" cy="1773936"/>
          </a:xfrm>
          <a:prstGeom prst="rect">
            <a:avLst/>
          </a:prstGeom>
        </p:spPr>
      </p:pic>
      <p:sp>
        <p:nvSpPr>
          <p:cNvPr id="11" name="Text 5"/>
          <p:cNvSpPr/>
          <p:nvPr/>
        </p:nvSpPr>
        <p:spPr>
          <a:xfrm>
            <a:off x="6263640" y="5623560"/>
            <a:ext cx="5120640" cy="274320"/>
          </a:xfrm>
          <a:prstGeom prst="rect">
            <a:avLst/>
          </a:prstGeom>
          <a:noFill/>
          <a:ln/>
        </p:spPr>
        <p:txBody>
          <a:bodyPr wrap="square" lIns="0" tIns="0" rIns="0" bIns="0" rtlCol="0" anchor="ctr"/>
          <a:lstStyle/>
          <a:p>
            <a:pPr marL="0" indent="0">
              <a:buNone/>
            </a:pPr>
            <a:r>
              <a:rPr lang="en-US" sz="1250" b="1" dirty="0">
                <a:solidFill>
                  <a:srgbClr val="0F2340"/>
                </a:solidFill>
                <a:latin typeface="Arial" pitchFamily="34" charset="0"/>
                <a:ea typeface="Arial" pitchFamily="34" charset="-122"/>
                <a:cs typeface="Arial" pitchFamily="34" charset="-120"/>
              </a:rPr>
              <a:t>Recommendations</a:t>
            </a:r>
            <a:endParaRPr lang="en-US" sz="1250" dirty="0"/>
          </a:p>
        </p:txBody>
      </p:sp>
      <p:sp>
        <p:nvSpPr>
          <p:cNvPr id="12" name="Text 6"/>
          <p:cNvSpPr/>
          <p:nvPr/>
        </p:nvSpPr>
        <p:spPr>
          <a:xfrm>
            <a:off x="548640" y="5943600"/>
            <a:ext cx="11064240" cy="320040"/>
          </a:xfrm>
          <a:prstGeom prst="rect">
            <a:avLst/>
          </a:prstGeom>
          <a:noFill/>
          <a:ln/>
        </p:spPr>
        <p:txBody>
          <a:bodyPr wrap="square" lIns="0" tIns="0" rIns="0" bIns="0" rtlCol="0" anchor="ctr"/>
          <a:lstStyle/>
          <a:p>
            <a:pPr marL="0" indent="0">
              <a:buNone/>
            </a:pPr>
            <a:r>
              <a:rPr lang="en-US" sz="1200" i="1" dirty="0">
                <a:solidFill>
                  <a:srgbClr val="8D8D8D"/>
                </a:solidFill>
                <a:latin typeface="Arial" pitchFamily="34" charset="0"/>
                <a:ea typeface="Arial" pitchFamily="34" charset="-122"/>
                <a:cs typeface="Arial" pitchFamily="34" charset="-120"/>
              </a:rPr>
              <a:t>Built in Tableau with IBM's colour system · sidebar navigation between pages · filters for contract, tenure, internet type and payment method.</a:t>
            </a:r>
            <a:endParaRPr lang="en-US" sz="1200" dirty="0"/>
          </a:p>
        </p:txBody>
      </p:sp>
      <p:sp>
        <p:nvSpPr>
          <p:cNvPr id="13" name="Text 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14" name="Text 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56032"/>
          </a:xfrm>
          <a:prstGeom prst="rect">
            <a:avLst/>
          </a:prstGeom>
          <a:noFill/>
          <a:ln/>
        </p:spPr>
        <p:txBody>
          <a:bodyPr wrap="square" lIns="0" tIns="0" rIns="0" bIns="0" rtlCol="0" anchor="ctr"/>
          <a:lstStyle/>
          <a:p>
            <a:pPr marL="0" indent="0">
              <a:buNone/>
            </a:pPr>
            <a:r>
              <a:rPr lang="en-US" sz="1200" b="1" kern="0" spc="200" dirty="0">
                <a:solidFill>
                  <a:srgbClr val="0F62FE"/>
                </a:solidFill>
                <a:latin typeface="Arial" pitchFamily="34" charset="0"/>
                <a:ea typeface="Arial" pitchFamily="34" charset="-122"/>
                <a:cs typeface="Arial" pitchFamily="34" charset="-120"/>
              </a:rPr>
              <a:t>SO WHAT DO WE DO?</a:t>
            </a:r>
            <a:endParaRPr lang="en-US" sz="1200" dirty="0"/>
          </a:p>
        </p:txBody>
      </p:sp>
      <p:sp>
        <p:nvSpPr>
          <p:cNvPr id="3" name="Text 1"/>
          <p:cNvSpPr/>
          <p:nvPr/>
        </p:nvSpPr>
        <p:spPr>
          <a:xfrm>
            <a:off x="548640" y="603504"/>
            <a:ext cx="11064240" cy="566928"/>
          </a:xfrm>
          <a:prstGeom prst="rect">
            <a:avLst/>
          </a:prstGeom>
          <a:noFill/>
          <a:ln/>
        </p:spPr>
        <p:txBody>
          <a:bodyPr wrap="square" lIns="0" tIns="0" rIns="0" bIns="0" rtlCol="0" anchor="ctr"/>
          <a:lstStyle/>
          <a:p>
            <a:pPr marL="0" indent="0">
              <a:buNone/>
            </a:pPr>
            <a:r>
              <a:rPr lang="en-US" sz="3200" b="1" dirty="0">
                <a:solidFill>
                  <a:srgbClr val="0F2340"/>
                </a:solidFill>
                <a:latin typeface="Arial" pitchFamily="34" charset="0"/>
                <a:ea typeface="Arial" pitchFamily="34" charset="-122"/>
                <a:cs typeface="Arial" pitchFamily="34" charset="-120"/>
              </a:rPr>
              <a:t>Five actions, each tied to a number</a:t>
            </a:r>
            <a:endParaRPr lang="en-US" sz="3200" dirty="0"/>
          </a:p>
        </p:txBody>
      </p:sp>
      <p:sp>
        <p:nvSpPr>
          <p:cNvPr id="4" name="Shape 2"/>
          <p:cNvSpPr/>
          <p:nvPr/>
        </p:nvSpPr>
        <p:spPr>
          <a:xfrm>
            <a:off x="548640" y="1572768"/>
            <a:ext cx="11064240" cy="804672"/>
          </a:xfrm>
          <a:prstGeom prst="roundRect">
            <a:avLst>
              <a:gd name="adj" fmla="val 6818"/>
            </a:avLst>
          </a:prstGeom>
          <a:solidFill>
            <a:srgbClr val="F4F6FA"/>
          </a:solidFill>
          <a:ln w="12700">
            <a:solidFill>
              <a:srgbClr val="E4E9F2"/>
            </a:solidFill>
            <a:prstDash val="solid"/>
          </a:ln>
        </p:spPr>
      </p:sp>
      <p:sp>
        <p:nvSpPr>
          <p:cNvPr id="5" name="Shape 3"/>
          <p:cNvSpPr/>
          <p:nvPr/>
        </p:nvSpPr>
        <p:spPr>
          <a:xfrm>
            <a:off x="822960" y="1783080"/>
            <a:ext cx="384048" cy="384048"/>
          </a:xfrm>
          <a:prstGeom prst="ellipse">
            <a:avLst/>
          </a:prstGeom>
          <a:solidFill>
            <a:srgbClr val="0F62FE"/>
          </a:solidFill>
          <a:ln/>
        </p:spPr>
      </p:sp>
      <p:sp>
        <p:nvSpPr>
          <p:cNvPr id="6" name="Text 4"/>
          <p:cNvSpPr/>
          <p:nvPr/>
        </p:nvSpPr>
        <p:spPr>
          <a:xfrm>
            <a:off x="822960" y="1783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17320" y="1664208"/>
            <a:ext cx="5120640" cy="621792"/>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Move customers onto longer contracts</a:t>
            </a:r>
            <a:endParaRPr lang="en-US" sz="1450" dirty="0"/>
          </a:p>
        </p:txBody>
      </p:sp>
      <p:sp>
        <p:nvSpPr>
          <p:cNvPr id="8" name="Text 6"/>
          <p:cNvSpPr/>
          <p:nvPr/>
        </p:nvSpPr>
        <p:spPr>
          <a:xfrm>
            <a:off x="6675120" y="1664208"/>
            <a:ext cx="475488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45.8% → 2.5% churn between month-to-month and two-year</a:t>
            </a:r>
            <a:endParaRPr lang="en-US" sz="1250" dirty="0"/>
          </a:p>
        </p:txBody>
      </p:sp>
      <p:sp>
        <p:nvSpPr>
          <p:cNvPr id="9" name="Shape 7"/>
          <p:cNvSpPr/>
          <p:nvPr/>
        </p:nvSpPr>
        <p:spPr>
          <a:xfrm>
            <a:off x="548640" y="2505456"/>
            <a:ext cx="11064240" cy="804672"/>
          </a:xfrm>
          <a:prstGeom prst="roundRect">
            <a:avLst>
              <a:gd name="adj" fmla="val 6818"/>
            </a:avLst>
          </a:prstGeom>
          <a:solidFill>
            <a:srgbClr val="FFFFFF"/>
          </a:solidFill>
          <a:ln w="12700">
            <a:solidFill>
              <a:srgbClr val="E4E9F2"/>
            </a:solidFill>
            <a:prstDash val="solid"/>
          </a:ln>
        </p:spPr>
      </p:sp>
      <p:sp>
        <p:nvSpPr>
          <p:cNvPr id="10" name="Shape 8"/>
          <p:cNvSpPr/>
          <p:nvPr/>
        </p:nvSpPr>
        <p:spPr>
          <a:xfrm>
            <a:off x="822960" y="2715768"/>
            <a:ext cx="384048" cy="384048"/>
          </a:xfrm>
          <a:prstGeom prst="ellipse">
            <a:avLst/>
          </a:prstGeom>
          <a:solidFill>
            <a:srgbClr val="0F62FE"/>
          </a:solidFill>
          <a:ln/>
        </p:spPr>
      </p:sp>
      <p:sp>
        <p:nvSpPr>
          <p:cNvPr id="11" name="Text 9"/>
          <p:cNvSpPr/>
          <p:nvPr/>
        </p:nvSpPr>
        <p:spPr>
          <a:xfrm>
            <a:off x="822960" y="2715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17320" y="2596896"/>
            <a:ext cx="5120640" cy="621792"/>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Build a 90-day onboarding programme</a:t>
            </a:r>
            <a:endParaRPr lang="en-US" sz="1450" dirty="0"/>
          </a:p>
        </p:txBody>
      </p:sp>
      <p:sp>
        <p:nvSpPr>
          <p:cNvPr id="13" name="Text 11"/>
          <p:cNvSpPr/>
          <p:nvPr/>
        </p:nvSpPr>
        <p:spPr>
          <a:xfrm>
            <a:off x="6675120" y="2596896"/>
            <a:ext cx="475488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47.4% of churn happens in the first year</a:t>
            </a:r>
            <a:endParaRPr lang="en-US" sz="1250" dirty="0"/>
          </a:p>
        </p:txBody>
      </p:sp>
      <p:sp>
        <p:nvSpPr>
          <p:cNvPr id="14" name="Shape 12"/>
          <p:cNvSpPr/>
          <p:nvPr/>
        </p:nvSpPr>
        <p:spPr>
          <a:xfrm>
            <a:off x="548640" y="3438144"/>
            <a:ext cx="11064240" cy="804672"/>
          </a:xfrm>
          <a:prstGeom prst="roundRect">
            <a:avLst>
              <a:gd name="adj" fmla="val 6818"/>
            </a:avLst>
          </a:prstGeom>
          <a:solidFill>
            <a:srgbClr val="F4F6FA"/>
          </a:solidFill>
          <a:ln w="12700">
            <a:solidFill>
              <a:srgbClr val="E4E9F2"/>
            </a:solidFill>
            <a:prstDash val="solid"/>
          </a:ln>
        </p:spPr>
      </p:sp>
      <p:sp>
        <p:nvSpPr>
          <p:cNvPr id="15" name="Shape 13"/>
          <p:cNvSpPr/>
          <p:nvPr/>
        </p:nvSpPr>
        <p:spPr>
          <a:xfrm>
            <a:off x="822960" y="3648456"/>
            <a:ext cx="384048" cy="384048"/>
          </a:xfrm>
          <a:prstGeom prst="ellipse">
            <a:avLst/>
          </a:prstGeom>
          <a:solidFill>
            <a:srgbClr val="0F62FE"/>
          </a:solidFill>
          <a:ln/>
        </p:spPr>
      </p:sp>
      <p:sp>
        <p:nvSpPr>
          <p:cNvPr id="16" name="Text 14"/>
          <p:cNvSpPr/>
          <p:nvPr/>
        </p:nvSpPr>
        <p:spPr>
          <a:xfrm>
            <a:off x="822960" y="36484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17320" y="3529584"/>
            <a:ext cx="5120640" cy="621792"/>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Review fiber pricing and retention offers</a:t>
            </a:r>
            <a:endParaRPr lang="en-US" sz="1450" dirty="0"/>
          </a:p>
        </p:txBody>
      </p:sp>
      <p:sp>
        <p:nvSpPr>
          <p:cNvPr id="18" name="Text 16"/>
          <p:cNvSpPr/>
          <p:nvPr/>
        </p:nvSpPr>
        <p:spPr>
          <a:xfrm>
            <a:off x="6675120" y="3529584"/>
            <a:ext cx="475488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45% of churn is driven by competitors</a:t>
            </a:r>
            <a:endParaRPr lang="en-US" sz="1250" dirty="0"/>
          </a:p>
        </p:txBody>
      </p:sp>
      <p:sp>
        <p:nvSpPr>
          <p:cNvPr id="19" name="Shape 17"/>
          <p:cNvSpPr/>
          <p:nvPr/>
        </p:nvSpPr>
        <p:spPr>
          <a:xfrm>
            <a:off x="548640" y="4370832"/>
            <a:ext cx="11064240" cy="804672"/>
          </a:xfrm>
          <a:prstGeom prst="roundRect">
            <a:avLst>
              <a:gd name="adj" fmla="val 6818"/>
            </a:avLst>
          </a:prstGeom>
          <a:solidFill>
            <a:srgbClr val="FFFFFF"/>
          </a:solidFill>
          <a:ln w="12700">
            <a:solidFill>
              <a:srgbClr val="E4E9F2"/>
            </a:solidFill>
            <a:prstDash val="solid"/>
          </a:ln>
        </p:spPr>
      </p:sp>
      <p:sp>
        <p:nvSpPr>
          <p:cNvPr id="20" name="Shape 18"/>
          <p:cNvSpPr/>
          <p:nvPr/>
        </p:nvSpPr>
        <p:spPr>
          <a:xfrm>
            <a:off x="822960" y="4581144"/>
            <a:ext cx="384048" cy="384048"/>
          </a:xfrm>
          <a:prstGeom prst="ellipse">
            <a:avLst/>
          </a:prstGeom>
          <a:solidFill>
            <a:srgbClr val="0F62FE"/>
          </a:solidFill>
          <a:ln/>
        </p:spPr>
      </p:sp>
      <p:sp>
        <p:nvSpPr>
          <p:cNvPr id="21" name="Text 19"/>
          <p:cNvSpPr/>
          <p:nvPr/>
        </p:nvSpPr>
        <p:spPr>
          <a:xfrm>
            <a:off x="822960" y="45811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1417320" y="4462272"/>
            <a:ext cx="5120640" cy="621792"/>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Protect the fiber segment</a:t>
            </a:r>
            <a:endParaRPr lang="en-US" sz="1450" dirty="0"/>
          </a:p>
        </p:txBody>
      </p:sp>
      <p:sp>
        <p:nvSpPr>
          <p:cNvPr id="23" name="Text 21"/>
          <p:cNvSpPr/>
          <p:nvPr/>
        </p:nvSpPr>
        <p:spPr>
          <a:xfrm>
            <a:off x="6675120" y="4462272"/>
            <a:ext cx="475488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40.7% churn, and 66% of all churners</a:t>
            </a:r>
            <a:endParaRPr lang="en-US" sz="1250" dirty="0"/>
          </a:p>
        </p:txBody>
      </p:sp>
      <p:sp>
        <p:nvSpPr>
          <p:cNvPr id="24" name="Shape 22"/>
          <p:cNvSpPr/>
          <p:nvPr/>
        </p:nvSpPr>
        <p:spPr>
          <a:xfrm>
            <a:off x="548640" y="5303520"/>
            <a:ext cx="11064240" cy="804672"/>
          </a:xfrm>
          <a:prstGeom prst="roundRect">
            <a:avLst>
              <a:gd name="adj" fmla="val 6818"/>
            </a:avLst>
          </a:prstGeom>
          <a:solidFill>
            <a:srgbClr val="F4F6FA"/>
          </a:solidFill>
          <a:ln w="12700">
            <a:solidFill>
              <a:srgbClr val="E4E9F2"/>
            </a:solidFill>
            <a:prstDash val="solid"/>
          </a:ln>
        </p:spPr>
      </p:sp>
      <p:sp>
        <p:nvSpPr>
          <p:cNvPr id="25" name="Shape 23"/>
          <p:cNvSpPr/>
          <p:nvPr/>
        </p:nvSpPr>
        <p:spPr>
          <a:xfrm>
            <a:off x="822960" y="5513832"/>
            <a:ext cx="384048" cy="384048"/>
          </a:xfrm>
          <a:prstGeom prst="ellipse">
            <a:avLst/>
          </a:prstGeom>
          <a:solidFill>
            <a:srgbClr val="0F62FE"/>
          </a:solidFill>
          <a:ln/>
        </p:spPr>
      </p:sp>
      <p:sp>
        <p:nvSpPr>
          <p:cNvPr id="26" name="Text 24"/>
          <p:cNvSpPr/>
          <p:nvPr/>
        </p:nvSpPr>
        <p:spPr>
          <a:xfrm>
            <a:off x="822960" y="55138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p:nvPr/>
        </p:nvSpPr>
        <p:spPr>
          <a:xfrm>
            <a:off x="1417320" y="5394960"/>
            <a:ext cx="5120640" cy="621792"/>
          </a:xfrm>
          <a:prstGeom prst="rect">
            <a:avLst/>
          </a:prstGeom>
          <a:noFill/>
          <a:ln/>
        </p:spPr>
        <p:txBody>
          <a:bodyPr wrap="square" lIns="0" tIns="0" rIns="0" bIns="0" rtlCol="0" anchor="ctr"/>
          <a:lstStyle/>
          <a:p>
            <a:pPr marL="0" indent="0">
              <a:buNone/>
            </a:pPr>
            <a:r>
              <a:rPr lang="en-US" sz="1450" b="1" dirty="0">
                <a:solidFill>
                  <a:srgbClr val="0F2340"/>
                </a:solidFill>
                <a:latin typeface="Arial" pitchFamily="34" charset="0"/>
                <a:ea typeface="Arial" pitchFamily="34" charset="-122"/>
                <a:cs typeface="Arial" pitchFamily="34" charset="-120"/>
              </a:rPr>
              <a:t>Bundle security and tech support</a:t>
            </a:r>
            <a:endParaRPr lang="en-US" sz="1450" dirty="0"/>
          </a:p>
        </p:txBody>
      </p:sp>
      <p:sp>
        <p:nvSpPr>
          <p:cNvPr id="28" name="Text 26"/>
          <p:cNvSpPr/>
          <p:nvPr/>
        </p:nvSpPr>
        <p:spPr>
          <a:xfrm>
            <a:off x="6675120" y="5394960"/>
            <a:ext cx="4754880" cy="621792"/>
          </a:xfrm>
          <a:prstGeom prst="rect">
            <a:avLst/>
          </a:prstGeom>
          <a:noFill/>
          <a:ln/>
        </p:spPr>
        <p:txBody>
          <a:bodyPr wrap="square" lIns="0" tIns="0" rIns="0" bIns="0" rtlCol="0" anchor="ctr"/>
          <a:lstStyle/>
          <a:p>
            <a:pPr marL="0" indent="0">
              <a:buNone/>
            </a:pPr>
            <a:r>
              <a:rPr lang="en-US" sz="1250" dirty="0">
                <a:solidFill>
                  <a:srgbClr val="525252"/>
                </a:solidFill>
                <a:latin typeface="Arial" pitchFamily="34" charset="0"/>
                <a:ea typeface="Arial" pitchFamily="34" charset="-122"/>
                <a:cs typeface="Arial" pitchFamily="34" charset="-120"/>
              </a:rPr>
              <a:t>33.4% churn without them, 9% with both</a:t>
            </a:r>
            <a:endParaRPr lang="en-US" sz="1250" dirty="0"/>
          </a:p>
        </p:txBody>
      </p:sp>
      <p:sp>
        <p:nvSpPr>
          <p:cNvPr id="29" name="Text 27"/>
          <p:cNvSpPr/>
          <p:nvPr/>
        </p:nvSpPr>
        <p:spPr>
          <a:xfrm>
            <a:off x="548640" y="6355080"/>
            <a:ext cx="5486400" cy="274320"/>
          </a:xfrm>
          <a:prstGeom prst="rect">
            <a:avLst/>
          </a:prstGeom>
          <a:noFill/>
          <a:ln/>
        </p:spPr>
        <p:txBody>
          <a:bodyPr wrap="square" lIns="0" tIns="0" rIns="0" bIns="0" rtlCol="0" anchor="ctr"/>
          <a:lstStyle/>
          <a:p>
            <a:pPr marL="0" indent="0">
              <a:buNone/>
            </a:pPr>
            <a:r>
              <a:rPr lang="en-US" sz="900" dirty="0">
                <a:solidFill>
                  <a:srgbClr val="8D8D8D"/>
                </a:solidFill>
                <a:latin typeface="Arial" pitchFamily="34" charset="0"/>
                <a:ea typeface="Arial" pitchFamily="34" charset="-122"/>
                <a:cs typeface="Arial" pitchFamily="34" charset="-120"/>
              </a:rPr>
              <a:t>IBM Telco · Customer Churn Analytics</a:t>
            </a:r>
            <a:endParaRPr lang="en-US" sz="900" dirty="0"/>
          </a:p>
        </p:txBody>
      </p:sp>
      <p:sp>
        <p:nvSpPr>
          <p:cNvPr id="30" name="Text 28"/>
          <p:cNvSpPr/>
          <p:nvPr/>
        </p:nvSpPr>
        <p:spPr>
          <a:xfrm>
            <a:off x="11155680" y="6355080"/>
            <a:ext cx="457200" cy="274320"/>
          </a:xfrm>
          <a:prstGeom prst="rect">
            <a:avLst/>
          </a:prstGeom>
          <a:noFill/>
          <a:ln/>
        </p:spPr>
        <p:txBody>
          <a:bodyPr wrap="square" lIns="0" tIns="0" rIns="0" bIns="0" rtlCol="0" anchor="ctr"/>
          <a:lstStyle/>
          <a:p>
            <a:pPr marL="0" indent="0" algn="r">
              <a:buNone/>
            </a:pPr>
            <a:r>
              <a:rPr lang="en-US" sz="900" dirty="0">
                <a:solidFill>
                  <a:srgbClr val="8D8D8D"/>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340"/>
        </a:solidFill>
        <a:effectLst/>
      </p:bgPr>
    </p:bg>
    <p:spTree>
      <p:nvGrpSpPr>
        <p:cNvPr id="1" name=""/>
        <p:cNvGrpSpPr/>
        <p:nvPr/>
      </p:nvGrpSpPr>
      <p:grpSpPr>
        <a:xfrm>
          <a:off x="0" y="0"/>
          <a:ext cx="0" cy="0"/>
          <a:chOff x="0" y="0"/>
          <a:chExt cx="0" cy="0"/>
        </a:xfrm>
      </p:grpSpPr>
      <p:sp>
        <p:nvSpPr>
          <p:cNvPr id="2" name="Text 0"/>
          <p:cNvSpPr/>
          <p:nvPr/>
        </p:nvSpPr>
        <p:spPr>
          <a:xfrm>
            <a:off x="822960" y="2011680"/>
            <a:ext cx="10515600" cy="13716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Churn is predictable — and therefore preventable</a:t>
            </a:r>
            <a:endParaRPr lang="en-US" sz="4000" dirty="0"/>
          </a:p>
        </p:txBody>
      </p:sp>
      <p:sp>
        <p:nvSpPr>
          <p:cNvPr id="3" name="Text 1"/>
          <p:cNvSpPr/>
          <p:nvPr/>
        </p:nvSpPr>
        <p:spPr>
          <a:xfrm>
            <a:off x="822960" y="3429000"/>
            <a:ext cx="9601200" cy="914400"/>
          </a:xfrm>
          <a:prstGeom prst="rect">
            <a:avLst/>
          </a:prstGeom>
          <a:noFill/>
          <a:ln/>
        </p:spPr>
        <p:txBody>
          <a:bodyPr wrap="square" lIns="0" tIns="0" rIns="0" bIns="0" rtlCol="0" anchor="ctr"/>
          <a:lstStyle/>
          <a:p>
            <a:pPr marL="0" indent="0">
              <a:buNone/>
            </a:pPr>
            <a:r>
              <a:rPr lang="en-US" sz="1600" dirty="0">
                <a:solidFill>
                  <a:srgbClr val="9AA7BD"/>
                </a:solidFill>
                <a:latin typeface="Arial" pitchFamily="34" charset="0"/>
                <a:ea typeface="Arial" pitchFamily="34" charset="-122"/>
                <a:cs typeface="Arial" pitchFamily="34" charset="-120"/>
              </a:rPr>
              <a:t>The customers at risk share a clear profile: month-to-month, first year, fiber, higher bills, fewer add-on services. That profile is something the business can act on today.</a:t>
            </a:r>
            <a:endParaRPr lang="en-US" sz="1600" dirty="0"/>
          </a:p>
        </p:txBody>
      </p:sp>
      <p:sp>
        <p:nvSpPr>
          <p:cNvPr id="4" name="Text 2"/>
          <p:cNvSpPr/>
          <p:nvPr/>
        </p:nvSpPr>
        <p:spPr>
          <a:xfrm>
            <a:off x="822960" y="4800600"/>
            <a:ext cx="10515600" cy="457200"/>
          </a:xfrm>
          <a:prstGeom prst="rect">
            <a:avLst/>
          </a:prstGeom>
          <a:noFill/>
          <a:ln/>
        </p:spPr>
        <p:txBody>
          <a:bodyPr wrap="square" lIns="0" tIns="0" rIns="0" bIns="0" rtlCol="0" anchor="ctr"/>
          <a:lstStyle/>
          <a:p>
            <a:pPr marL="0" indent="0">
              <a:buNone/>
            </a:pPr>
            <a:r>
              <a:rPr lang="en-US" sz="2200" b="1" dirty="0">
                <a:solidFill>
                  <a:srgbClr val="4589FF"/>
                </a:solidFill>
                <a:latin typeface="Arial" pitchFamily="34" charset="0"/>
                <a:ea typeface="Arial" pitchFamily="34" charset="-122"/>
                <a:cs typeface="Arial" pitchFamily="34" charset="-120"/>
              </a:rPr>
              <a:t>Thank you  ·  Questions welcome</a:t>
            </a:r>
            <a:endParaRPr lang="en-US" sz="2200" dirty="0"/>
          </a:p>
        </p:txBody>
      </p:sp>
      <p:sp>
        <p:nvSpPr>
          <p:cNvPr id="5" name="Text 3"/>
          <p:cNvSpPr/>
          <p:nvPr/>
        </p:nvSpPr>
        <p:spPr>
          <a:xfrm>
            <a:off x="822960" y="5349240"/>
            <a:ext cx="10515600" cy="320040"/>
          </a:xfrm>
          <a:prstGeom prst="rect">
            <a:avLst/>
          </a:prstGeom>
          <a:noFill/>
          <a:ln/>
        </p:spPr>
        <p:txBody>
          <a:bodyPr wrap="square" lIns="0" tIns="0" rIns="0" bIns="0" rtlCol="0" anchor="ctr"/>
          <a:lstStyle/>
          <a:p>
            <a:pPr marL="0" indent="0">
              <a:buNone/>
            </a:pPr>
            <a:r>
              <a:rPr lang="en-US" sz="1300" dirty="0">
                <a:solidFill>
                  <a:srgbClr val="6B7A91"/>
                </a:solidFill>
                <a:latin typeface="Arial" pitchFamily="34" charset="0"/>
                <a:ea typeface="Arial" pitchFamily="34" charset="-122"/>
                <a:cs typeface="Arial" pitchFamily="34" charset="-120"/>
              </a:rPr>
              <a:t>Mohamed Mostafa Hassan Afify  ·  Python · SQL Server · Tableau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2567</Words>
  <Application>Microsoft Office PowerPoint</Application>
  <PresentationFormat>Widescreen</PresentationFormat>
  <Paragraphs>354</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Analytics — IBM Telco</dc:title>
  <dc:subject>PptxGenJS Presentation</dc:subject>
  <dc:creator>Mohamed Mostafa Hassan Afify</dc:creator>
  <cp:lastModifiedBy>Mohamed Mostafa Hassan Afify</cp:lastModifiedBy>
  <cp:revision>2</cp:revision>
  <dcterms:created xsi:type="dcterms:W3CDTF">2026-07-25T08:03:28Z</dcterms:created>
  <dcterms:modified xsi:type="dcterms:W3CDTF">2026-07-25T13:15:01Z</dcterms:modified>
</cp:coreProperties>
</file>